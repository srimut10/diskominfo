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8" r:id="rId3"/>
    <p:sldId id="259" r:id="rId4"/>
    <p:sldId id="260" r:id="rId5"/>
    <p:sldId id="261" r:id="rId6"/>
    <p:sldId id="262" r:id="rId7"/>
    <p:sldId id="271" r:id="rId8"/>
    <p:sldId id="263" r:id="rId9"/>
    <p:sldId id="264" r:id="rId10"/>
    <p:sldId id="265" r:id="rId11"/>
    <p:sldId id="266" r:id="rId12"/>
    <p:sldId id="268" r:id="rId13"/>
    <p:sldId id="272" r:id="rId14"/>
    <p:sldId id="270" r:id="rId15"/>
  </p:sldIdLst>
  <p:sldSz cx="18288000" cy="10287000"/>
  <p:notesSz cx="6858000" cy="9144000"/>
  <p:embeddedFontLst>
    <p:embeddedFont>
      <p:font typeface="Calibri" panose="020F0502020204030204" pitchFamily="34" charset="0"/>
      <p:regular r:id="rId17"/>
      <p:bold r:id="rId18"/>
      <p:italic r:id="rId19"/>
      <p:boldItalic r:id="rId20"/>
    </p:embeddedFont>
    <p:embeddedFont>
      <p:font typeface="Cooper BT Bold" panose="020B0604020202020204" charset="0"/>
      <p:regular r:id="rId21"/>
    </p:embeddedFont>
    <p:embeddedFont>
      <p:font typeface="Cooper BT Bold Italics" panose="020B0604020202020204" charset="0"/>
      <p:regular r:id="rId22"/>
    </p:embeddedFont>
    <p:embeddedFont>
      <p:font typeface="Cooper BT Light" panose="020B0604020202020204" charset="0"/>
      <p:regular r:id="rId23"/>
    </p:embeddedFont>
    <p:embeddedFont>
      <p:font typeface="Cooper BT Light Italics"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1A1A"/>
    <a:srgbClr val="BB837B"/>
    <a:srgbClr val="E8DED0"/>
    <a:srgbClr val="9D49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778"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C2D8F2-94C8-485E-A7F4-3E17D3487CAD}" type="datetimeFigureOut">
              <a:rPr lang="id-ID" smtClean="0"/>
              <a:t>07/01/2026</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85F92-2D60-4259-A7D7-9C69F72233D3}" type="slidenum">
              <a:rPr lang="id-ID" smtClean="0"/>
              <a:t>‹#›</a:t>
            </a:fld>
            <a:endParaRPr lang="id-ID"/>
          </a:p>
        </p:txBody>
      </p:sp>
    </p:spTree>
    <p:extLst>
      <p:ext uri="{BB962C8B-B14F-4D97-AF65-F5344CB8AC3E}">
        <p14:creationId xmlns:p14="http://schemas.microsoft.com/office/powerpoint/2010/main" val="1367245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32485F92-2D60-4259-A7D7-9C69F72233D3}" type="slidenum">
              <a:rPr lang="id-ID" smtClean="0"/>
              <a:t>9</a:t>
            </a:fld>
            <a:endParaRPr lang="id-ID"/>
          </a:p>
        </p:txBody>
      </p:sp>
    </p:spTree>
    <p:extLst>
      <p:ext uri="{BB962C8B-B14F-4D97-AF65-F5344CB8AC3E}">
        <p14:creationId xmlns:p14="http://schemas.microsoft.com/office/powerpoint/2010/main" val="1621038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d-ID" dirty="0"/>
          </a:p>
        </p:txBody>
      </p:sp>
      <p:sp>
        <p:nvSpPr>
          <p:cNvPr id="4" name="Slide Number Placeholder 3"/>
          <p:cNvSpPr>
            <a:spLocks noGrp="1"/>
          </p:cNvSpPr>
          <p:nvPr>
            <p:ph type="sldNum" sz="quarter" idx="5"/>
          </p:nvPr>
        </p:nvSpPr>
        <p:spPr/>
        <p:txBody>
          <a:bodyPr/>
          <a:lstStyle/>
          <a:p>
            <a:fld id="{32485F92-2D60-4259-A7D7-9C69F72233D3}" type="slidenum">
              <a:rPr lang="id-ID" smtClean="0"/>
              <a:t>10</a:t>
            </a:fld>
            <a:endParaRPr lang="id-ID"/>
          </a:p>
        </p:txBody>
      </p:sp>
    </p:spTree>
    <p:extLst>
      <p:ext uri="{BB962C8B-B14F-4D97-AF65-F5344CB8AC3E}">
        <p14:creationId xmlns:p14="http://schemas.microsoft.com/office/powerpoint/2010/main" val="1452446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4.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6.png"/><Relationship Id="rId7" Type="http://schemas.openxmlformats.org/officeDocument/2006/relationships/image" Target="../media/image14.svg"/><Relationship Id="rId12" Type="http://schemas.openxmlformats.org/officeDocument/2006/relationships/image" Target="../media/image27.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3.png"/><Relationship Id="rId11" Type="http://schemas.openxmlformats.org/officeDocument/2006/relationships/image" Target="../media/image26.png"/><Relationship Id="rId5" Type="http://schemas.openxmlformats.org/officeDocument/2006/relationships/image" Target="../media/image12.svg"/><Relationship Id="rId10" Type="http://schemas.openxmlformats.org/officeDocument/2006/relationships/image" Target="../media/image25.svg"/><Relationship Id="rId4" Type="http://schemas.openxmlformats.org/officeDocument/2006/relationships/image" Target="../media/image11.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8.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680965" y="3583295"/>
            <a:ext cx="5514720" cy="6703705"/>
            <a:chOff x="0" y="0"/>
            <a:chExt cx="660400" cy="802784"/>
          </a:xfrm>
        </p:grpSpPr>
        <p:sp>
          <p:nvSpPr>
            <p:cNvPr id="3" name="Freeform 3"/>
            <p:cNvSpPr/>
            <p:nvPr/>
          </p:nvSpPr>
          <p:spPr>
            <a:xfrm>
              <a:off x="0" y="0"/>
              <a:ext cx="660400" cy="802784"/>
            </a:xfrm>
            <a:custGeom>
              <a:avLst/>
              <a:gdLst/>
              <a:ahLst/>
              <a:cxnLst/>
              <a:rect l="l" t="t" r="r" b="b"/>
              <a:pathLst>
                <a:path w="660400" h="802784">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280"/>
                  </a:cubicBezTo>
                  <a:lnTo>
                    <a:pt x="660400" y="802784"/>
                  </a:lnTo>
                  <a:lnTo>
                    <a:pt x="0" y="802784"/>
                  </a:lnTo>
                  <a:lnTo>
                    <a:pt x="0" y="328632"/>
                  </a:lnTo>
                  <a:cubicBezTo>
                    <a:pt x="1782" y="185660"/>
                    <a:pt x="93019" y="64045"/>
                    <a:pt x="220252" y="19070"/>
                  </a:cubicBezTo>
                  <a:close/>
                </a:path>
              </a:pathLst>
            </a:custGeom>
            <a:solidFill>
              <a:srgbClr val="861A1A">
                <a:alpha val="60000"/>
              </a:srgbClr>
            </a:solidFill>
          </p:spPr>
        </p:sp>
        <p:sp>
          <p:nvSpPr>
            <p:cNvPr id="4" name="TextBox 4"/>
            <p:cNvSpPr txBox="1"/>
            <p:nvPr/>
          </p:nvSpPr>
          <p:spPr>
            <a:xfrm>
              <a:off x="0" y="88900"/>
              <a:ext cx="660400" cy="713884"/>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6386640" y="1599911"/>
            <a:ext cx="5514720" cy="8864069"/>
            <a:chOff x="0" y="0"/>
            <a:chExt cx="660400" cy="1061492"/>
          </a:xfrm>
        </p:grpSpPr>
        <p:sp>
          <p:nvSpPr>
            <p:cNvPr id="6" name="Freeform 6"/>
            <p:cNvSpPr/>
            <p:nvPr/>
          </p:nvSpPr>
          <p:spPr>
            <a:xfrm>
              <a:off x="0" y="0"/>
              <a:ext cx="660400" cy="1061492"/>
            </a:xfrm>
            <a:custGeom>
              <a:avLst/>
              <a:gdLst/>
              <a:ahLst/>
              <a:cxnLst/>
              <a:rect l="l" t="t" r="r" b="b"/>
              <a:pathLst>
                <a:path w="660400" h="1061492">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4026"/>
                  </a:cubicBezTo>
                  <a:lnTo>
                    <a:pt x="660400" y="1061492"/>
                  </a:lnTo>
                  <a:lnTo>
                    <a:pt x="0" y="1061492"/>
                  </a:lnTo>
                  <a:lnTo>
                    <a:pt x="0" y="334566"/>
                  </a:lnTo>
                  <a:cubicBezTo>
                    <a:pt x="1782" y="185660"/>
                    <a:pt x="93019" y="64045"/>
                    <a:pt x="220252" y="19070"/>
                  </a:cubicBezTo>
                  <a:close/>
                </a:path>
              </a:pathLst>
            </a:custGeom>
            <a:solidFill>
              <a:srgbClr val="861A1A">
                <a:alpha val="60000"/>
              </a:srgbClr>
            </a:solidFill>
          </p:spPr>
        </p:sp>
        <p:sp>
          <p:nvSpPr>
            <p:cNvPr id="7" name="TextBox 7"/>
            <p:cNvSpPr txBox="1"/>
            <p:nvPr/>
          </p:nvSpPr>
          <p:spPr>
            <a:xfrm>
              <a:off x="0" y="88900"/>
              <a:ext cx="660400" cy="972592"/>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2092315" y="3583295"/>
            <a:ext cx="5514720" cy="6703705"/>
            <a:chOff x="0" y="0"/>
            <a:chExt cx="660400" cy="802784"/>
          </a:xfrm>
        </p:grpSpPr>
        <p:sp>
          <p:nvSpPr>
            <p:cNvPr id="9" name="Freeform 9"/>
            <p:cNvSpPr/>
            <p:nvPr/>
          </p:nvSpPr>
          <p:spPr>
            <a:xfrm>
              <a:off x="0" y="0"/>
              <a:ext cx="660400" cy="802784"/>
            </a:xfrm>
            <a:custGeom>
              <a:avLst/>
              <a:gdLst/>
              <a:ahLst/>
              <a:cxnLst/>
              <a:rect l="l" t="t" r="r" b="b"/>
              <a:pathLst>
                <a:path w="660400" h="802784">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280"/>
                  </a:cubicBezTo>
                  <a:lnTo>
                    <a:pt x="660400" y="802784"/>
                  </a:lnTo>
                  <a:lnTo>
                    <a:pt x="0" y="802784"/>
                  </a:lnTo>
                  <a:lnTo>
                    <a:pt x="0" y="328632"/>
                  </a:lnTo>
                  <a:cubicBezTo>
                    <a:pt x="1782" y="185660"/>
                    <a:pt x="93019" y="64045"/>
                    <a:pt x="220252" y="19070"/>
                  </a:cubicBezTo>
                  <a:close/>
                </a:path>
              </a:pathLst>
            </a:custGeom>
            <a:solidFill>
              <a:srgbClr val="861A1A">
                <a:alpha val="60000"/>
              </a:srgbClr>
            </a:solidFill>
          </p:spPr>
        </p:sp>
        <p:sp>
          <p:nvSpPr>
            <p:cNvPr id="10" name="TextBox 10"/>
            <p:cNvSpPr txBox="1"/>
            <p:nvPr/>
          </p:nvSpPr>
          <p:spPr>
            <a:xfrm>
              <a:off x="0" y="88900"/>
              <a:ext cx="660400" cy="713884"/>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rot="5400000">
            <a:off x="7881845" y="160245"/>
            <a:ext cx="2524310" cy="18288000"/>
            <a:chOff x="0" y="0"/>
            <a:chExt cx="664839" cy="4816593"/>
          </a:xfrm>
        </p:grpSpPr>
        <p:sp>
          <p:nvSpPr>
            <p:cNvPr id="12" name="Freeform 12"/>
            <p:cNvSpPr/>
            <p:nvPr/>
          </p:nvSpPr>
          <p:spPr>
            <a:xfrm>
              <a:off x="0" y="0"/>
              <a:ext cx="664839" cy="4816592"/>
            </a:xfrm>
            <a:custGeom>
              <a:avLst/>
              <a:gdLst/>
              <a:ahLst/>
              <a:cxnLst/>
              <a:rect l="l" t="t" r="r" b="b"/>
              <a:pathLst>
                <a:path w="664839" h="4816592">
                  <a:moveTo>
                    <a:pt x="0" y="0"/>
                  </a:moveTo>
                  <a:lnTo>
                    <a:pt x="664839" y="0"/>
                  </a:lnTo>
                  <a:lnTo>
                    <a:pt x="664839" y="4816592"/>
                  </a:lnTo>
                  <a:lnTo>
                    <a:pt x="0" y="4816592"/>
                  </a:lnTo>
                  <a:close/>
                </a:path>
              </a:pathLst>
            </a:custGeom>
            <a:solidFill>
              <a:srgbClr val="E8DED0"/>
            </a:solidFill>
          </p:spPr>
        </p:sp>
        <p:sp>
          <p:nvSpPr>
            <p:cNvPr id="13" name="TextBox 13"/>
            <p:cNvSpPr txBox="1"/>
            <p:nvPr/>
          </p:nvSpPr>
          <p:spPr>
            <a:xfrm>
              <a:off x="0" y="-38100"/>
              <a:ext cx="664839" cy="4854693"/>
            </a:xfrm>
            <a:prstGeom prst="rect">
              <a:avLst/>
            </a:prstGeom>
          </p:spPr>
          <p:txBody>
            <a:bodyPr lIns="50800" tIns="50800" rIns="50800" bIns="50800" rtlCol="0" anchor="ctr"/>
            <a:lstStyle/>
            <a:p>
              <a:pPr algn="ctr">
                <a:lnSpc>
                  <a:spcPts val="2659"/>
                </a:lnSpc>
                <a:spcBef>
                  <a:spcPct val="0"/>
                </a:spcBef>
              </a:pPr>
              <a:endParaRPr/>
            </a:p>
          </p:txBody>
        </p:sp>
      </p:grpSp>
      <p:sp>
        <p:nvSpPr>
          <p:cNvPr id="14" name="Freeform 14"/>
          <p:cNvSpPr/>
          <p:nvPr/>
        </p:nvSpPr>
        <p:spPr>
          <a:xfrm rot="-5400000">
            <a:off x="4480560" y="3190690"/>
            <a:ext cx="182880" cy="9144000"/>
          </a:xfrm>
          <a:custGeom>
            <a:avLst/>
            <a:gdLst/>
            <a:ahLst/>
            <a:cxnLst/>
            <a:rect l="l" t="t" r="r" b="b"/>
            <a:pathLst>
              <a:path w="182880" h="9144000">
                <a:moveTo>
                  <a:pt x="0" y="0"/>
                </a:moveTo>
                <a:lnTo>
                  <a:pt x="182880" y="0"/>
                </a:lnTo>
                <a:lnTo>
                  <a:pt x="182880" y="9144000"/>
                </a:lnTo>
                <a:lnTo>
                  <a:pt x="0" y="9144000"/>
                </a:lnTo>
                <a:lnTo>
                  <a:pt x="0" y="0"/>
                </a:lnTo>
                <a:close/>
              </a:path>
            </a:pathLst>
          </a:custGeom>
          <a:blipFill>
            <a:blip r:embed="rId2"/>
            <a:stretch>
              <a:fillRect/>
            </a:stretch>
          </a:blipFill>
        </p:spPr>
      </p:sp>
      <p:grpSp>
        <p:nvGrpSpPr>
          <p:cNvPr id="15" name="Group 15"/>
          <p:cNvGrpSpPr/>
          <p:nvPr/>
        </p:nvGrpSpPr>
        <p:grpSpPr>
          <a:xfrm>
            <a:off x="680510" y="619712"/>
            <a:ext cx="7244290" cy="788479"/>
            <a:chOff x="0" y="0"/>
            <a:chExt cx="3423554" cy="406400"/>
          </a:xfrm>
        </p:grpSpPr>
        <p:sp>
          <p:nvSpPr>
            <p:cNvPr id="16" name="Freeform 16"/>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EC173"/>
              </a:solidFill>
              <a:prstDash val="solid"/>
              <a:miter/>
            </a:ln>
          </p:spPr>
        </p:sp>
        <p:sp>
          <p:nvSpPr>
            <p:cNvPr id="17" name="TextBox 17"/>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9"/>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0" name="Group 20"/>
          <p:cNvGrpSpPr/>
          <p:nvPr/>
        </p:nvGrpSpPr>
        <p:grpSpPr>
          <a:xfrm>
            <a:off x="11660216" y="634460"/>
            <a:ext cx="5947274" cy="788479"/>
            <a:chOff x="0" y="0"/>
            <a:chExt cx="3065360" cy="406400"/>
          </a:xfrm>
        </p:grpSpPr>
        <p:sp>
          <p:nvSpPr>
            <p:cNvPr id="21" name="Freeform 21"/>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EC173"/>
              </a:solidFill>
              <a:prstDash val="solid"/>
              <a:miter/>
            </a:ln>
          </p:spPr>
        </p:sp>
        <p:sp>
          <p:nvSpPr>
            <p:cNvPr id="22" name="TextBox 22"/>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23" name="AutoShape 23"/>
          <p:cNvSpPr/>
          <p:nvPr/>
        </p:nvSpPr>
        <p:spPr>
          <a:xfrm>
            <a:off x="7924800" y="1043448"/>
            <a:ext cx="3735416" cy="0"/>
          </a:xfrm>
          <a:prstGeom prst="line">
            <a:avLst/>
          </a:prstGeom>
          <a:ln w="19050" cap="flat">
            <a:solidFill>
              <a:srgbClr val="EEC173"/>
            </a:solidFill>
            <a:prstDash val="solid"/>
            <a:headEnd type="none" w="sm" len="sm"/>
            <a:tailEnd type="none" w="sm" len="sm"/>
          </a:ln>
        </p:spPr>
      </p:sp>
      <p:sp>
        <p:nvSpPr>
          <p:cNvPr id="24" name="Freeform 24"/>
          <p:cNvSpPr/>
          <p:nvPr/>
        </p:nvSpPr>
        <p:spPr>
          <a:xfrm rot="-5400000" flipH="1" flipV="1">
            <a:off x="13624560" y="3190690"/>
            <a:ext cx="182880" cy="9144000"/>
          </a:xfrm>
          <a:custGeom>
            <a:avLst/>
            <a:gdLst/>
            <a:ahLst/>
            <a:cxnLst/>
            <a:rect l="l" t="t" r="r" b="b"/>
            <a:pathLst>
              <a:path w="182880" h="9144000">
                <a:moveTo>
                  <a:pt x="182880" y="9144000"/>
                </a:moveTo>
                <a:lnTo>
                  <a:pt x="0" y="9144000"/>
                </a:lnTo>
                <a:lnTo>
                  <a:pt x="0" y="0"/>
                </a:lnTo>
                <a:lnTo>
                  <a:pt x="182880" y="0"/>
                </a:lnTo>
                <a:lnTo>
                  <a:pt x="182880" y="9144000"/>
                </a:lnTo>
                <a:close/>
              </a:path>
            </a:pathLst>
          </a:custGeom>
          <a:blipFill>
            <a:blip r:embed="rId2"/>
            <a:stretch>
              <a:fillRect/>
            </a:stretch>
          </a:blipFill>
        </p:spPr>
      </p:sp>
      <p:sp>
        <p:nvSpPr>
          <p:cNvPr id="25" name="Freeform 25"/>
          <p:cNvSpPr/>
          <p:nvPr/>
        </p:nvSpPr>
        <p:spPr>
          <a:xfrm>
            <a:off x="8521707" y="7132520"/>
            <a:ext cx="1244586" cy="1260340"/>
          </a:xfrm>
          <a:custGeom>
            <a:avLst/>
            <a:gdLst/>
            <a:ahLst/>
            <a:cxnLst/>
            <a:rect l="l" t="t" r="r" b="b"/>
            <a:pathLst>
              <a:path w="1244586" h="1260340">
                <a:moveTo>
                  <a:pt x="0" y="0"/>
                </a:moveTo>
                <a:lnTo>
                  <a:pt x="1244586" y="0"/>
                </a:lnTo>
                <a:lnTo>
                  <a:pt x="1244586" y="1260340"/>
                </a:lnTo>
                <a:lnTo>
                  <a:pt x="0" y="1260340"/>
                </a:lnTo>
                <a:lnTo>
                  <a:pt x="0" y="0"/>
                </a:lnTo>
                <a:close/>
              </a:path>
            </a:pathLst>
          </a:custGeom>
          <a:blipFill>
            <a:blip r:embed="rId7"/>
            <a:stretch>
              <a:fillRect/>
            </a:stretch>
          </a:blipFill>
        </p:spPr>
      </p:sp>
      <p:sp>
        <p:nvSpPr>
          <p:cNvPr id="26" name="TextBox 26"/>
          <p:cNvSpPr txBox="1"/>
          <p:nvPr/>
        </p:nvSpPr>
        <p:spPr>
          <a:xfrm>
            <a:off x="866854" y="2654078"/>
            <a:ext cx="16698951" cy="3323987"/>
          </a:xfrm>
          <a:prstGeom prst="rect">
            <a:avLst/>
          </a:prstGeom>
        </p:spPr>
        <p:txBody>
          <a:bodyPr wrap="square" lIns="0" tIns="0" rIns="0" bIns="0" rtlCol="0" anchor="t">
            <a:spAutoFit/>
          </a:bodyPr>
          <a:lstStyle/>
          <a:p>
            <a:pPr algn="ctr"/>
            <a:r>
              <a:rPr lang="en-US" sz="5400" spc="415" dirty="0" err="1">
                <a:solidFill>
                  <a:srgbClr val="E8DED0"/>
                </a:solidFill>
                <a:latin typeface="Cooper BT Light"/>
                <a:ea typeface="Cooper BT Light"/>
                <a:cs typeface="Cooper BT Light"/>
                <a:sym typeface="Cooper BT Light"/>
              </a:rPr>
              <a:t>Analisis</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Sentimen</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Ulasan</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Produk</a:t>
            </a:r>
            <a:r>
              <a:rPr lang="en-US" sz="5400" spc="415" dirty="0">
                <a:solidFill>
                  <a:srgbClr val="E8DED0"/>
                </a:solidFill>
                <a:latin typeface="Cooper BT Light"/>
                <a:ea typeface="Cooper BT Light"/>
                <a:cs typeface="Cooper BT Light"/>
                <a:sym typeface="Cooper BT Light"/>
              </a:rPr>
              <a:t> Online </a:t>
            </a:r>
            <a:r>
              <a:rPr lang="en-US" sz="5400" spc="415" dirty="0" err="1">
                <a:solidFill>
                  <a:srgbClr val="E8DED0"/>
                </a:solidFill>
                <a:latin typeface="Cooper BT Light"/>
                <a:ea typeface="Cooper BT Light"/>
                <a:cs typeface="Cooper BT Light"/>
                <a:sym typeface="Cooper BT Light"/>
              </a:rPr>
              <a:t>Menggunakan</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Metode</a:t>
            </a:r>
            <a:r>
              <a:rPr lang="en-US" sz="5400" spc="415" dirty="0">
                <a:solidFill>
                  <a:srgbClr val="E8DED0"/>
                </a:solidFill>
                <a:latin typeface="Cooper BT Light"/>
                <a:ea typeface="Cooper BT Light"/>
                <a:cs typeface="Cooper BT Light"/>
                <a:sym typeface="Cooper BT Light"/>
              </a:rPr>
              <a:t> Text Mining dan </a:t>
            </a:r>
            <a:r>
              <a:rPr lang="en-US" sz="5400" spc="415" dirty="0" err="1">
                <a:solidFill>
                  <a:srgbClr val="E8DED0"/>
                </a:solidFill>
                <a:latin typeface="Cooper BT Light"/>
                <a:ea typeface="Cooper BT Light"/>
                <a:cs typeface="Cooper BT Light"/>
                <a:sym typeface="Cooper BT Light"/>
              </a:rPr>
              <a:t>Klasifikasi</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Navie</a:t>
            </a:r>
            <a:r>
              <a:rPr lang="en-US" sz="5400" spc="415" dirty="0">
                <a:solidFill>
                  <a:srgbClr val="E8DED0"/>
                </a:solidFill>
                <a:latin typeface="Cooper BT Light"/>
                <a:ea typeface="Cooper BT Light"/>
                <a:cs typeface="Cooper BT Light"/>
                <a:sym typeface="Cooper BT Light"/>
              </a:rPr>
              <a:t> Bayes</a:t>
            </a:r>
          </a:p>
          <a:p>
            <a:pPr algn="ctr"/>
            <a:r>
              <a:rPr lang="en-US" sz="5400" spc="415" dirty="0">
                <a:solidFill>
                  <a:srgbClr val="E8DED0"/>
                </a:solidFill>
                <a:latin typeface="Cooper BT Light"/>
                <a:ea typeface="Cooper BT Light"/>
                <a:cs typeface="Cooper BT Light"/>
                <a:sym typeface="Cooper BT Light"/>
              </a:rPr>
              <a:t>(</a:t>
            </a:r>
            <a:r>
              <a:rPr lang="en-US" sz="5400" spc="415" dirty="0" err="1">
                <a:solidFill>
                  <a:srgbClr val="E8DED0"/>
                </a:solidFill>
                <a:latin typeface="Cooper BT Light"/>
                <a:ea typeface="Cooper BT Light"/>
                <a:cs typeface="Cooper BT Light"/>
                <a:sym typeface="Cooper BT Light"/>
              </a:rPr>
              <a:t>Studi</a:t>
            </a:r>
            <a:r>
              <a:rPr lang="en-US" sz="5400" spc="415" dirty="0">
                <a:solidFill>
                  <a:srgbClr val="E8DED0"/>
                </a:solidFill>
                <a:latin typeface="Cooper BT Light"/>
                <a:ea typeface="Cooper BT Light"/>
                <a:cs typeface="Cooper BT Light"/>
                <a:sym typeface="Cooper BT Light"/>
              </a:rPr>
              <a:t> </a:t>
            </a:r>
            <a:r>
              <a:rPr lang="en-US" sz="5400" spc="415" dirty="0" err="1">
                <a:solidFill>
                  <a:srgbClr val="E8DED0"/>
                </a:solidFill>
                <a:latin typeface="Cooper BT Light"/>
                <a:ea typeface="Cooper BT Light"/>
                <a:cs typeface="Cooper BT Light"/>
                <a:sym typeface="Cooper BT Light"/>
              </a:rPr>
              <a:t>Kasus:Tokopedia</a:t>
            </a:r>
            <a:r>
              <a:rPr lang="en-US" sz="5400" spc="415" dirty="0">
                <a:solidFill>
                  <a:srgbClr val="E8DED0"/>
                </a:solidFill>
                <a:latin typeface="Cooper BT Light"/>
                <a:ea typeface="Cooper BT Light"/>
                <a:cs typeface="Cooper BT Light"/>
                <a:sym typeface="Cooper BT Light"/>
              </a:rPr>
              <a:t> Product Reviews 2019)</a:t>
            </a:r>
          </a:p>
        </p:txBody>
      </p:sp>
      <p:sp>
        <p:nvSpPr>
          <p:cNvPr id="27" name="TextBox 27"/>
          <p:cNvSpPr txBox="1"/>
          <p:nvPr/>
        </p:nvSpPr>
        <p:spPr>
          <a:xfrm>
            <a:off x="1819853" y="739457"/>
            <a:ext cx="6216615" cy="504305"/>
          </a:xfrm>
          <a:prstGeom prst="rect">
            <a:avLst/>
          </a:prstGeom>
        </p:spPr>
        <p:txBody>
          <a:bodyPr wrap="square" lIns="0" tIns="0" rIns="0" bIns="0" rtlCol="0" anchor="t">
            <a:spAutoFit/>
          </a:bodyPr>
          <a:lstStyle/>
          <a:p>
            <a:pPr algn="l">
              <a:lnSpc>
                <a:spcPts val="4339"/>
              </a:lnSpc>
            </a:pPr>
            <a:r>
              <a:rPr lang="en-US" sz="2800" i="1" spc="371" dirty="0" err="1">
                <a:solidFill>
                  <a:srgbClr val="E8DED0"/>
                </a:solidFill>
                <a:latin typeface="Cooper BT Light Italics"/>
                <a:ea typeface="Cooper BT Light Italics"/>
                <a:cs typeface="Cooper BT Light Italics"/>
                <a:sym typeface="Cooper BT Light Italics"/>
              </a:rPr>
              <a:t>Sekolah</a:t>
            </a:r>
            <a:r>
              <a:rPr lang="en-US" sz="2800" i="1" spc="371" dirty="0">
                <a:solidFill>
                  <a:srgbClr val="E8DED0"/>
                </a:solidFill>
                <a:latin typeface="Cooper BT Light Italics"/>
                <a:ea typeface="Cooper BT Light Italics"/>
                <a:cs typeface="Cooper BT Light Italics"/>
                <a:sym typeface="Cooper BT Light Italics"/>
              </a:rPr>
              <a:t> Tinggi </a:t>
            </a:r>
            <a:r>
              <a:rPr lang="en-US" sz="2800" i="1" spc="371" dirty="0" err="1">
                <a:solidFill>
                  <a:srgbClr val="E8DED0"/>
                </a:solidFill>
                <a:latin typeface="Cooper BT Light Italics"/>
                <a:ea typeface="Cooper BT Light Italics"/>
                <a:cs typeface="Cooper BT Light Italics"/>
                <a:sym typeface="Cooper BT Light Italics"/>
              </a:rPr>
              <a:t>Ilmu</a:t>
            </a:r>
            <a:r>
              <a:rPr lang="en-US" sz="2800" i="1" spc="371" dirty="0">
                <a:solidFill>
                  <a:srgbClr val="E8DED0"/>
                </a:solidFill>
                <a:latin typeface="Cooper BT Light Italics"/>
                <a:ea typeface="Cooper BT Light Italics"/>
                <a:cs typeface="Cooper BT Light Italics"/>
                <a:sym typeface="Cooper BT Light Italics"/>
              </a:rPr>
              <a:t> </a:t>
            </a:r>
            <a:r>
              <a:rPr lang="en-US" sz="2800" i="1" spc="371" dirty="0" err="1">
                <a:solidFill>
                  <a:srgbClr val="E8DED0"/>
                </a:solidFill>
                <a:latin typeface="Cooper BT Light Italics"/>
                <a:ea typeface="Cooper BT Light Italics"/>
                <a:cs typeface="Cooper BT Light Italics"/>
                <a:sym typeface="Cooper BT Light Italics"/>
              </a:rPr>
              <a:t>Komputer</a:t>
            </a:r>
            <a:endParaRPr lang="en-US" sz="2800" i="1" spc="371" dirty="0">
              <a:solidFill>
                <a:srgbClr val="E8DED0"/>
              </a:solidFill>
              <a:latin typeface="Cooper BT Light Italics"/>
              <a:ea typeface="Cooper BT Light Italics"/>
              <a:cs typeface="Cooper BT Light Italics"/>
              <a:sym typeface="Cooper BT Light Italics"/>
            </a:endParaRPr>
          </a:p>
        </p:txBody>
      </p:sp>
      <p:sp>
        <p:nvSpPr>
          <p:cNvPr id="28" name="TextBox 28"/>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sp>
        <p:nvSpPr>
          <p:cNvPr id="29" name="TextBox 29"/>
          <p:cNvSpPr txBox="1"/>
          <p:nvPr/>
        </p:nvSpPr>
        <p:spPr>
          <a:xfrm>
            <a:off x="12072090" y="8138421"/>
            <a:ext cx="5750402" cy="739946"/>
          </a:xfrm>
          <a:prstGeom prst="rect">
            <a:avLst/>
          </a:prstGeom>
        </p:spPr>
        <p:txBody>
          <a:bodyPr lIns="0" tIns="0" rIns="0" bIns="0" rtlCol="0" anchor="t">
            <a:spAutoFit/>
          </a:bodyPr>
          <a:lstStyle/>
          <a:p>
            <a:pPr algn="l">
              <a:lnSpc>
                <a:spcPts val="6299"/>
              </a:lnSpc>
            </a:pPr>
            <a:r>
              <a:rPr lang="en-US" sz="4500" b="1" dirty="0" err="1">
                <a:solidFill>
                  <a:srgbClr val="861A1A"/>
                </a:solidFill>
                <a:latin typeface="Cooper BT Bold"/>
                <a:ea typeface="Cooper BT Bold"/>
                <a:cs typeface="Cooper BT Bold"/>
                <a:sym typeface="Cooper BT Bold"/>
              </a:rPr>
              <a:t>Dosen</a:t>
            </a:r>
            <a:r>
              <a:rPr lang="en-US" sz="4500" b="1" dirty="0">
                <a:solidFill>
                  <a:srgbClr val="861A1A"/>
                </a:solidFill>
                <a:latin typeface="Cooper BT Bold"/>
                <a:ea typeface="Cooper BT Bold"/>
                <a:cs typeface="Cooper BT Bold"/>
                <a:sym typeface="Cooper BT Bold"/>
              </a:rPr>
              <a:t> </a:t>
            </a:r>
            <a:r>
              <a:rPr lang="en-US" sz="4500" b="1" dirty="0" err="1">
                <a:solidFill>
                  <a:srgbClr val="861A1A"/>
                </a:solidFill>
                <a:latin typeface="Cooper BT Bold"/>
                <a:ea typeface="Cooper BT Bold"/>
                <a:cs typeface="Cooper BT Bold"/>
                <a:sym typeface="Cooper BT Bold"/>
              </a:rPr>
              <a:t>Matakuliah</a:t>
            </a:r>
            <a:endParaRPr lang="en-US" sz="4500" b="1" dirty="0">
              <a:solidFill>
                <a:srgbClr val="861A1A"/>
              </a:solidFill>
              <a:latin typeface="Cooper BT Bold"/>
              <a:ea typeface="Cooper BT Bold"/>
              <a:cs typeface="Cooper BT Bold"/>
              <a:sym typeface="Cooper BT Bold"/>
            </a:endParaRPr>
          </a:p>
        </p:txBody>
      </p:sp>
      <p:sp>
        <p:nvSpPr>
          <p:cNvPr id="30" name="TextBox 30"/>
          <p:cNvSpPr txBox="1"/>
          <p:nvPr/>
        </p:nvSpPr>
        <p:spPr>
          <a:xfrm>
            <a:off x="12225492" y="8962178"/>
            <a:ext cx="5030882" cy="538674"/>
          </a:xfrm>
          <a:prstGeom prst="rect">
            <a:avLst/>
          </a:prstGeom>
        </p:spPr>
        <p:txBody>
          <a:bodyPr wrap="square" lIns="0" tIns="0" rIns="0" bIns="0" rtlCol="0" anchor="t">
            <a:spAutoFit/>
          </a:bodyPr>
          <a:lstStyle/>
          <a:p>
            <a:pPr algn="l">
              <a:lnSpc>
                <a:spcPts val="4480"/>
              </a:lnSpc>
            </a:pPr>
            <a:r>
              <a:rPr lang="id-ID" sz="3200" b="1" dirty="0">
                <a:solidFill>
                  <a:srgbClr val="861A1A"/>
                </a:solidFill>
                <a:latin typeface="Cooper BT Light" panose="020B0604020202020204" charset="0"/>
              </a:rPr>
              <a:t>Victor Ilyas Sugara, M.Kom</a:t>
            </a:r>
            <a:endParaRPr lang="en-US" sz="3200" b="1" dirty="0">
              <a:solidFill>
                <a:srgbClr val="861A1A"/>
              </a:solidFill>
              <a:latin typeface="Cooper BT Light" panose="020B0604020202020204" charset="0"/>
              <a:ea typeface="Cooper BT Light"/>
              <a:cs typeface="Cooper BT Light"/>
              <a:sym typeface="Cooper BT Light"/>
            </a:endParaRPr>
          </a:p>
        </p:txBody>
      </p:sp>
      <p:sp>
        <p:nvSpPr>
          <p:cNvPr id="31" name="TextBox 31"/>
          <p:cNvSpPr txBox="1"/>
          <p:nvPr/>
        </p:nvSpPr>
        <p:spPr>
          <a:xfrm>
            <a:off x="301178" y="8004820"/>
            <a:ext cx="8915151" cy="2260812"/>
          </a:xfrm>
          <a:prstGeom prst="rect">
            <a:avLst/>
          </a:prstGeom>
        </p:spPr>
        <p:txBody>
          <a:bodyPr wrap="square" lIns="0" tIns="0" rIns="0" bIns="0" rtlCol="0" anchor="t">
            <a:spAutoFit/>
          </a:bodyPr>
          <a:lstStyle/>
          <a:p>
            <a:pPr>
              <a:lnSpc>
                <a:spcPts val="4480"/>
              </a:lnSpc>
            </a:pPr>
            <a:r>
              <a:rPr lang="en-US" sz="2000" b="1" spc="128" dirty="0" err="1">
                <a:solidFill>
                  <a:srgbClr val="861A1A"/>
                </a:solidFill>
                <a:latin typeface="Cooper BT Light"/>
                <a:ea typeface="Cooper BT Light"/>
                <a:cs typeface="Cooper BT Light"/>
                <a:sym typeface="Cooper BT Light"/>
              </a:rPr>
              <a:t>Inkana</a:t>
            </a:r>
            <a:r>
              <a:rPr lang="en-US" sz="2000" b="1" spc="128" dirty="0">
                <a:solidFill>
                  <a:srgbClr val="861A1A"/>
                </a:solidFill>
                <a:latin typeface="Cooper BT Light"/>
                <a:ea typeface="Cooper BT Light"/>
                <a:cs typeface="Cooper BT Light"/>
                <a:sym typeface="Cooper BT Light"/>
              </a:rPr>
              <a:t> Arwa</a:t>
            </a:r>
            <a:r>
              <a:rPr lang="en-US" sz="2000" spc="128" dirty="0">
                <a:solidFill>
                  <a:srgbClr val="861A1A"/>
                </a:solidFill>
                <a:latin typeface="Cooper BT Light"/>
                <a:ea typeface="Cooper BT Light"/>
                <a:cs typeface="Cooper BT Light"/>
                <a:sym typeface="Cooper BT Light"/>
              </a:rPr>
              <a:t>			: 2311060065</a:t>
            </a:r>
          </a:p>
          <a:p>
            <a:pPr>
              <a:lnSpc>
                <a:spcPts val="4480"/>
              </a:lnSpc>
            </a:pPr>
            <a:r>
              <a:rPr lang="en-US" sz="2000" b="1" spc="128" dirty="0" err="1">
                <a:solidFill>
                  <a:srgbClr val="861A1A"/>
                </a:solidFill>
                <a:latin typeface="Cooper BT Light"/>
                <a:ea typeface="Cooper BT Light"/>
                <a:cs typeface="Cooper BT Light"/>
                <a:sym typeface="Cooper BT Light"/>
              </a:rPr>
              <a:t>Sahira</a:t>
            </a:r>
            <a:r>
              <a:rPr lang="en-US" sz="2000" b="1" spc="128" dirty="0">
                <a:solidFill>
                  <a:srgbClr val="861A1A"/>
                </a:solidFill>
                <a:latin typeface="Cooper BT Light"/>
                <a:ea typeface="Cooper BT Light"/>
                <a:cs typeface="Cooper BT Light"/>
                <a:sym typeface="Cooper BT Light"/>
              </a:rPr>
              <a:t> </a:t>
            </a:r>
            <a:r>
              <a:rPr lang="en-US" sz="2000" b="1" spc="128" dirty="0" err="1">
                <a:solidFill>
                  <a:srgbClr val="861A1A"/>
                </a:solidFill>
                <a:latin typeface="Cooper BT Light"/>
                <a:ea typeface="Cooper BT Light"/>
                <a:cs typeface="Cooper BT Light"/>
                <a:sym typeface="Cooper BT Light"/>
              </a:rPr>
              <a:t>Khairan</a:t>
            </a:r>
            <a:r>
              <a:rPr lang="en-US" sz="2000" b="1" spc="128" dirty="0">
                <a:solidFill>
                  <a:srgbClr val="861A1A"/>
                </a:solidFill>
                <a:latin typeface="Cooper BT Light"/>
                <a:ea typeface="Cooper BT Light"/>
                <a:cs typeface="Cooper BT Light"/>
                <a:sym typeface="Cooper BT Light"/>
              </a:rPr>
              <a:t> Najah</a:t>
            </a:r>
            <a:r>
              <a:rPr lang="en-US" sz="2000" spc="128" dirty="0">
                <a:solidFill>
                  <a:srgbClr val="861A1A"/>
                </a:solidFill>
                <a:latin typeface="Cooper BT Light"/>
                <a:ea typeface="Cooper BT Light"/>
                <a:cs typeface="Cooper BT Light"/>
                <a:sym typeface="Cooper BT Light"/>
              </a:rPr>
              <a:t>		: 2311060125</a:t>
            </a:r>
          </a:p>
          <a:p>
            <a:pPr>
              <a:lnSpc>
                <a:spcPts val="4480"/>
              </a:lnSpc>
            </a:pPr>
            <a:r>
              <a:rPr lang="en-US" sz="2000" b="1" spc="128" dirty="0">
                <a:solidFill>
                  <a:srgbClr val="861A1A"/>
                </a:solidFill>
                <a:latin typeface="Cooper BT Light"/>
                <a:ea typeface="Cooper BT Light"/>
                <a:cs typeface="Cooper BT Light"/>
                <a:sym typeface="Cooper BT Light"/>
              </a:rPr>
              <a:t>Siti Sarah </a:t>
            </a:r>
            <a:r>
              <a:rPr lang="en-US" sz="2000" b="1" spc="128" dirty="0" err="1">
                <a:solidFill>
                  <a:srgbClr val="861A1A"/>
                </a:solidFill>
                <a:latin typeface="Cooper BT Light"/>
                <a:ea typeface="Cooper BT Light"/>
                <a:cs typeface="Cooper BT Light"/>
                <a:sym typeface="Cooper BT Light"/>
              </a:rPr>
              <a:t>Maulani</a:t>
            </a:r>
            <a:r>
              <a:rPr lang="en-US" sz="2000" spc="128" dirty="0">
                <a:solidFill>
                  <a:srgbClr val="861A1A"/>
                </a:solidFill>
                <a:latin typeface="Cooper BT Light"/>
                <a:ea typeface="Cooper BT Light"/>
                <a:cs typeface="Cooper BT Light"/>
                <a:sym typeface="Cooper BT Light"/>
              </a:rPr>
              <a:t>		: 2311060080</a:t>
            </a:r>
          </a:p>
          <a:p>
            <a:pPr>
              <a:lnSpc>
                <a:spcPts val="4480"/>
              </a:lnSpc>
            </a:pPr>
            <a:r>
              <a:rPr lang="en-US" sz="2000" b="1" spc="128" dirty="0">
                <a:solidFill>
                  <a:srgbClr val="861A1A"/>
                </a:solidFill>
                <a:latin typeface="Cooper BT Light"/>
                <a:ea typeface="Cooper BT Light"/>
                <a:cs typeface="Cooper BT Light"/>
                <a:sym typeface="Cooper BT Light"/>
              </a:rPr>
              <a:t>Sri Mutmainah	</a:t>
            </a:r>
            <a:r>
              <a:rPr lang="en-US" sz="2000" spc="128" dirty="0">
                <a:solidFill>
                  <a:srgbClr val="861A1A"/>
                </a:solidFill>
                <a:latin typeface="Cooper BT Light"/>
                <a:ea typeface="Cooper BT Light"/>
                <a:cs typeface="Cooper BT Light"/>
                <a:sym typeface="Cooper BT Light"/>
              </a:rPr>
              <a:t>	: 2311060081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102804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E8DED0"/>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txBody>
          <a:bodyPr/>
          <a:lstStyle/>
          <a:p>
            <a:endParaRPr lang="id-ID" dirty="0"/>
          </a:p>
        </p:txBody>
      </p:sp>
      <p:sp>
        <p:nvSpPr>
          <p:cNvPr id="6" name="TextBox 6"/>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02</a:t>
            </a:r>
          </a:p>
        </p:txBody>
      </p:sp>
      <p:grpSp>
        <p:nvGrpSpPr>
          <p:cNvPr id="7" name="Group 7"/>
          <p:cNvGrpSpPr/>
          <p:nvPr/>
        </p:nvGrpSpPr>
        <p:grpSpPr>
          <a:xfrm>
            <a:off x="680510" y="634460"/>
            <a:ext cx="6642227" cy="788479"/>
            <a:chOff x="0" y="0"/>
            <a:chExt cx="3423554" cy="406400"/>
          </a:xfrm>
        </p:grpSpPr>
        <p:sp>
          <p:nvSpPr>
            <p:cNvPr id="8" name="Freeform 8"/>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txBody>
            <a:bodyPr/>
            <a:lstStyle/>
            <a:p>
              <a:endParaRPr lang="id-ID" dirty="0"/>
            </a:p>
          </p:txBody>
        </p:sp>
        <p:sp>
          <p:nvSpPr>
            <p:cNvPr id="9" name="TextBox 9"/>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1660216" y="634460"/>
            <a:ext cx="5947274" cy="788479"/>
            <a:chOff x="0" y="0"/>
            <a:chExt cx="3065360" cy="406400"/>
          </a:xfrm>
        </p:grpSpPr>
        <p:sp>
          <p:nvSpPr>
            <p:cNvPr id="13" name="Freeform 13"/>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4" name="TextBox 14"/>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5" name="AutoShape 15"/>
          <p:cNvSpPr/>
          <p:nvPr/>
        </p:nvSpPr>
        <p:spPr>
          <a:xfrm>
            <a:off x="7322736" y="1028700"/>
            <a:ext cx="4337480" cy="0"/>
          </a:xfrm>
          <a:prstGeom prst="line">
            <a:avLst/>
          </a:prstGeom>
          <a:ln w="19050" cap="flat">
            <a:solidFill>
              <a:srgbClr val="E8DED0"/>
            </a:solidFill>
            <a:prstDash val="solid"/>
            <a:headEnd type="none" w="sm" len="sm"/>
            <a:tailEnd type="none" w="sm" len="sm"/>
          </a:ln>
        </p:spPr>
      </p:sp>
      <p:sp>
        <p:nvSpPr>
          <p:cNvPr id="16" name="TextBox 16"/>
          <p:cNvSpPr txBox="1"/>
          <p:nvPr/>
        </p:nvSpPr>
        <p:spPr>
          <a:xfrm>
            <a:off x="1819853" y="739457"/>
            <a:ext cx="6866946" cy="504305"/>
          </a:xfrm>
          <a:prstGeom prst="rect">
            <a:avLst/>
          </a:prstGeom>
        </p:spPr>
        <p:txBody>
          <a:bodyPr wrap="square" lIns="0" tIns="0" rIns="0" bIns="0" rtlCol="0" anchor="t">
            <a:spAutoFit/>
          </a:bodyPr>
          <a:lstStyle/>
          <a:p>
            <a:pPr algn="l">
              <a:lnSpc>
                <a:spcPts val="4339"/>
              </a:lnSpc>
            </a:pPr>
            <a:r>
              <a:rPr lang="en-US" sz="2400" i="1" spc="371" dirty="0" err="1">
                <a:solidFill>
                  <a:srgbClr val="E8DED0"/>
                </a:solidFill>
                <a:latin typeface="Cooper BT Light Italics"/>
                <a:ea typeface="Cooper BT Light Italics"/>
                <a:cs typeface="Cooper BT Light Italics"/>
                <a:sym typeface="Cooper BT Light Italics"/>
              </a:rPr>
              <a:t>Sekolah</a:t>
            </a:r>
            <a:r>
              <a:rPr lang="en-US" sz="2400" i="1" spc="371" dirty="0">
                <a:solidFill>
                  <a:srgbClr val="E8DED0"/>
                </a:solidFill>
                <a:latin typeface="Cooper BT Light Italics"/>
                <a:ea typeface="Cooper BT Light Italics"/>
                <a:cs typeface="Cooper BT Light Italics"/>
                <a:sym typeface="Cooper BT Light Italics"/>
              </a:rPr>
              <a:t> Tinggi </a:t>
            </a:r>
            <a:r>
              <a:rPr lang="en-US" sz="2400" i="1" spc="371" dirty="0" err="1">
                <a:solidFill>
                  <a:srgbClr val="E8DED0"/>
                </a:solidFill>
                <a:latin typeface="Cooper BT Light Italics"/>
                <a:ea typeface="Cooper BT Light Italics"/>
                <a:cs typeface="Cooper BT Light Italics"/>
                <a:sym typeface="Cooper BT Light Italics"/>
              </a:rPr>
              <a:t>Ilmu</a:t>
            </a:r>
            <a:r>
              <a:rPr lang="en-US" sz="2400" i="1" spc="371" dirty="0">
                <a:solidFill>
                  <a:srgbClr val="E8DED0"/>
                </a:solidFill>
                <a:latin typeface="Cooper BT Light Italics"/>
                <a:ea typeface="Cooper BT Light Italics"/>
                <a:cs typeface="Cooper BT Light Italics"/>
                <a:sym typeface="Cooper BT Light Italics"/>
              </a:rPr>
              <a:t> </a:t>
            </a:r>
            <a:r>
              <a:rPr lang="en-US" sz="2400" i="1" spc="371" dirty="0" err="1">
                <a:solidFill>
                  <a:srgbClr val="E8DED0"/>
                </a:solidFill>
                <a:latin typeface="Cooper BT Light Italics"/>
                <a:ea typeface="Cooper BT Light Italics"/>
                <a:cs typeface="Cooper BT Light Italics"/>
                <a:sym typeface="Cooper BT Light Italics"/>
              </a:rPr>
              <a:t>Komputer</a:t>
            </a:r>
            <a:endParaRPr lang="en-US" sz="2400" i="1" spc="371" dirty="0">
              <a:solidFill>
                <a:srgbClr val="E8DED0"/>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sp>
        <p:nvSpPr>
          <p:cNvPr id="18" name="TextBox 18"/>
          <p:cNvSpPr txBox="1"/>
          <p:nvPr/>
        </p:nvSpPr>
        <p:spPr>
          <a:xfrm>
            <a:off x="1873512" y="3949700"/>
            <a:ext cx="4814026" cy="2422525"/>
          </a:xfrm>
          <a:prstGeom prst="rect">
            <a:avLst/>
          </a:prstGeom>
        </p:spPr>
        <p:txBody>
          <a:bodyPr lIns="0" tIns="0" rIns="0" bIns="0" rtlCol="0" anchor="t">
            <a:spAutoFit/>
          </a:bodyPr>
          <a:lstStyle/>
          <a:p>
            <a:pPr algn="l">
              <a:lnSpc>
                <a:spcPts val="9799"/>
              </a:lnSpc>
            </a:pPr>
            <a:r>
              <a:rPr lang="en-US" sz="6999">
                <a:solidFill>
                  <a:srgbClr val="E8DED0"/>
                </a:solidFill>
                <a:latin typeface="Cooper BT Light"/>
                <a:ea typeface="Cooper BT Light"/>
                <a:cs typeface="Cooper BT Light"/>
                <a:sym typeface="Cooper BT Light"/>
              </a:rPr>
              <a:t>Latar</a:t>
            </a:r>
          </a:p>
          <a:p>
            <a:pPr algn="l">
              <a:lnSpc>
                <a:spcPts val="9799"/>
              </a:lnSpc>
            </a:pPr>
            <a:r>
              <a:rPr lang="en-US" sz="6999">
                <a:solidFill>
                  <a:srgbClr val="E8DED0"/>
                </a:solidFill>
                <a:latin typeface="Cooper BT Light"/>
                <a:ea typeface="Cooper BT Light"/>
                <a:cs typeface="Cooper BT Light"/>
                <a:sym typeface="Cooper BT Light"/>
              </a:rPr>
              <a:t>Belakang</a:t>
            </a:r>
          </a:p>
        </p:txBody>
      </p:sp>
      <p:sp>
        <p:nvSpPr>
          <p:cNvPr id="19" name="AutoShape 19"/>
          <p:cNvSpPr/>
          <p:nvPr/>
        </p:nvSpPr>
        <p:spPr>
          <a:xfrm flipV="1">
            <a:off x="6394880" y="2706499"/>
            <a:ext cx="0" cy="4874003"/>
          </a:xfrm>
          <a:prstGeom prst="line">
            <a:avLst/>
          </a:prstGeom>
          <a:ln w="38100" cap="flat">
            <a:solidFill>
              <a:srgbClr val="E8DED0"/>
            </a:solidFill>
            <a:prstDash val="solid"/>
            <a:headEnd type="oval" w="lg" len="lg"/>
            <a:tailEnd type="oval" w="lg" len="lg"/>
          </a:ln>
        </p:spPr>
      </p:sp>
      <p:sp>
        <p:nvSpPr>
          <p:cNvPr id="20" name="TextBox 20"/>
          <p:cNvSpPr txBox="1"/>
          <p:nvPr/>
        </p:nvSpPr>
        <p:spPr>
          <a:xfrm>
            <a:off x="7152714" y="2351582"/>
            <a:ext cx="10673283" cy="5924699"/>
          </a:xfrm>
          <a:prstGeom prst="rect">
            <a:avLst/>
          </a:prstGeom>
        </p:spPr>
        <p:txBody>
          <a:bodyPr wrap="square" lIns="0" tIns="0" rIns="0" bIns="0" rtlCol="0" anchor="t">
            <a:spAutoFit/>
          </a:bodyPr>
          <a:lstStyle/>
          <a:p>
            <a:pPr algn="l">
              <a:lnSpc>
                <a:spcPts val="4200"/>
              </a:lnSpc>
            </a:pPr>
            <a:r>
              <a:rPr lang="id-ID" sz="3600" dirty="0">
                <a:solidFill>
                  <a:schemeClr val="bg1"/>
                </a:solidFill>
                <a:latin typeface="Times New Roman" panose="02020603050405020304" pitchFamily="18" charset="0"/>
                <a:cs typeface="Times New Roman" panose="02020603050405020304" pitchFamily="18" charset="0"/>
              </a:rPr>
              <a:t>Perkembangan e-commerce di Indonesia, khususnya Tokopedia, menyebabkan meningkatnya jumlah ulasan produk yang berisi opini dan pengalaman konsumen. Ulasan tersebut penting karena memengaruhi keputusan pembelian dan reputasi produk maupun toko. Namun, banyaknya ulasan membuat analisis manual menjadi tidak efisien. Oleh karena itu, penelitian ini menerapkan teknik text mining dan analisis sentimen menggunakan metode Naive Bayes untuk mengklasifikasikan ulasan ke dalam kategori positif, netral, dan negatif guna memperoleh gambaran persepsi konsumen secara otomatis dan efisien.</a:t>
            </a:r>
            <a:endParaRPr lang="en-US" sz="3600" dirty="0">
              <a:solidFill>
                <a:schemeClr val="bg1"/>
              </a:solidFill>
              <a:latin typeface="Times New Roman" panose="02020603050405020304" pitchFamily="18" charset="0"/>
              <a:ea typeface="Cooper BT Light"/>
              <a:cs typeface="Times New Roman" panose="02020603050405020304" pitchFamily="18" charset="0"/>
              <a:sym typeface="Cooper B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txBody>
          <a:bodyPr/>
          <a:lstStyle/>
          <a:p>
            <a:endParaRPr lang="id-ID" dirty="0"/>
          </a:p>
        </p:txBody>
      </p:sp>
      <p:sp>
        <p:nvSpPr>
          <p:cNvPr id="6" name="TextBox 6"/>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03</a:t>
            </a:r>
          </a:p>
        </p:txBody>
      </p:sp>
      <p:grpSp>
        <p:nvGrpSpPr>
          <p:cNvPr id="7" name="Group 7"/>
          <p:cNvGrpSpPr/>
          <p:nvPr/>
        </p:nvGrpSpPr>
        <p:grpSpPr>
          <a:xfrm>
            <a:off x="680510" y="634460"/>
            <a:ext cx="6642227" cy="788479"/>
            <a:chOff x="0" y="0"/>
            <a:chExt cx="3423554" cy="406400"/>
          </a:xfrm>
        </p:grpSpPr>
        <p:sp>
          <p:nvSpPr>
            <p:cNvPr id="8" name="Freeform 8"/>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9" name="TextBox 9"/>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1660216" y="634460"/>
            <a:ext cx="5947274" cy="788479"/>
            <a:chOff x="0" y="0"/>
            <a:chExt cx="3065360" cy="406400"/>
          </a:xfrm>
        </p:grpSpPr>
        <p:sp>
          <p:nvSpPr>
            <p:cNvPr id="13" name="Freeform 13"/>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4" name="TextBox 14"/>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5" name="AutoShape 15"/>
          <p:cNvSpPr/>
          <p:nvPr/>
        </p:nvSpPr>
        <p:spPr>
          <a:xfrm>
            <a:off x="7322736" y="1028700"/>
            <a:ext cx="4337480" cy="0"/>
          </a:xfrm>
          <a:prstGeom prst="line">
            <a:avLst/>
          </a:prstGeom>
          <a:ln w="19050" cap="flat">
            <a:solidFill>
              <a:srgbClr val="861A1A"/>
            </a:solidFill>
            <a:prstDash val="solid"/>
            <a:headEnd type="none" w="sm" len="sm"/>
            <a:tailEnd type="none" w="sm" len="sm"/>
          </a:ln>
        </p:spPr>
      </p:sp>
      <p:sp>
        <p:nvSpPr>
          <p:cNvPr id="16" name="TextBox 1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18" name="TextBox 18"/>
          <p:cNvSpPr txBox="1"/>
          <p:nvPr/>
        </p:nvSpPr>
        <p:spPr>
          <a:xfrm>
            <a:off x="4243160" y="2053969"/>
            <a:ext cx="9801680" cy="1184275"/>
          </a:xfrm>
          <a:prstGeom prst="rect">
            <a:avLst/>
          </a:prstGeom>
        </p:spPr>
        <p:txBody>
          <a:bodyPr lIns="0" tIns="0" rIns="0" bIns="0" rtlCol="0" anchor="t">
            <a:spAutoFit/>
          </a:bodyPr>
          <a:lstStyle/>
          <a:p>
            <a:pPr algn="ctr">
              <a:lnSpc>
                <a:spcPts val="9799"/>
              </a:lnSpc>
            </a:pPr>
            <a:r>
              <a:rPr lang="en-US" sz="6999">
                <a:solidFill>
                  <a:srgbClr val="861A1A"/>
                </a:solidFill>
                <a:latin typeface="Cooper BT Light"/>
                <a:ea typeface="Cooper BT Light"/>
                <a:cs typeface="Cooper BT Light"/>
                <a:sym typeface="Cooper BT Light"/>
              </a:rPr>
              <a:t>Rumusan Masalah</a:t>
            </a:r>
          </a:p>
        </p:txBody>
      </p:sp>
      <p:sp>
        <p:nvSpPr>
          <p:cNvPr id="19" name="TextBox 19"/>
          <p:cNvSpPr txBox="1"/>
          <p:nvPr/>
        </p:nvSpPr>
        <p:spPr>
          <a:xfrm>
            <a:off x="1670614" y="4381163"/>
            <a:ext cx="1638012" cy="1111250"/>
          </a:xfrm>
          <a:prstGeom prst="rect">
            <a:avLst/>
          </a:prstGeom>
        </p:spPr>
        <p:txBody>
          <a:bodyPr lIns="0" tIns="0" rIns="0" bIns="0" rtlCol="0" anchor="t">
            <a:spAutoFit/>
          </a:bodyPr>
          <a:lstStyle/>
          <a:p>
            <a:pPr algn="l">
              <a:lnSpc>
                <a:spcPts val="9100"/>
              </a:lnSpc>
            </a:pPr>
            <a:r>
              <a:rPr lang="en-US" sz="6500" b="1" i="1" dirty="0">
                <a:solidFill>
                  <a:srgbClr val="861A1A"/>
                </a:solidFill>
                <a:latin typeface="Cooper BT Bold Italics"/>
                <a:ea typeface="Cooper BT Bold Italics"/>
                <a:cs typeface="Cooper BT Bold Italics"/>
                <a:sym typeface="Cooper BT Bold Italics"/>
              </a:rPr>
              <a:t>01.</a:t>
            </a:r>
          </a:p>
        </p:txBody>
      </p:sp>
      <p:sp>
        <p:nvSpPr>
          <p:cNvPr id="20" name="TextBox 20"/>
          <p:cNvSpPr txBox="1"/>
          <p:nvPr/>
        </p:nvSpPr>
        <p:spPr>
          <a:xfrm>
            <a:off x="9964220" y="4278029"/>
            <a:ext cx="1638012" cy="1111250"/>
          </a:xfrm>
          <a:prstGeom prst="rect">
            <a:avLst/>
          </a:prstGeom>
        </p:spPr>
        <p:txBody>
          <a:bodyPr lIns="0" tIns="0" rIns="0" bIns="0" rtlCol="0" anchor="t">
            <a:spAutoFit/>
          </a:bodyPr>
          <a:lstStyle/>
          <a:p>
            <a:pPr algn="l">
              <a:lnSpc>
                <a:spcPts val="9100"/>
              </a:lnSpc>
            </a:pPr>
            <a:r>
              <a:rPr lang="en-US" sz="6500" b="1" i="1" dirty="0">
                <a:solidFill>
                  <a:srgbClr val="861A1A"/>
                </a:solidFill>
                <a:latin typeface="Cooper BT Bold Italics"/>
                <a:ea typeface="Cooper BT Bold Italics"/>
                <a:cs typeface="Cooper BT Bold Italics"/>
                <a:sym typeface="Cooper BT Bold Italics"/>
              </a:rPr>
              <a:t>02.</a:t>
            </a:r>
          </a:p>
        </p:txBody>
      </p:sp>
      <p:sp>
        <p:nvSpPr>
          <p:cNvPr id="21" name="TextBox 21"/>
          <p:cNvSpPr txBox="1"/>
          <p:nvPr/>
        </p:nvSpPr>
        <p:spPr>
          <a:xfrm>
            <a:off x="5175909" y="7337998"/>
            <a:ext cx="1602168" cy="1111250"/>
          </a:xfrm>
          <a:prstGeom prst="rect">
            <a:avLst/>
          </a:prstGeom>
        </p:spPr>
        <p:txBody>
          <a:bodyPr lIns="0" tIns="0" rIns="0" bIns="0" rtlCol="0" anchor="t">
            <a:spAutoFit/>
          </a:bodyPr>
          <a:lstStyle/>
          <a:p>
            <a:pPr algn="l">
              <a:lnSpc>
                <a:spcPts val="9100"/>
              </a:lnSpc>
            </a:pPr>
            <a:r>
              <a:rPr lang="en-US" sz="6500" b="1" i="1" dirty="0">
                <a:solidFill>
                  <a:srgbClr val="861A1A"/>
                </a:solidFill>
                <a:latin typeface="Cooper BT Bold Italics"/>
                <a:ea typeface="Cooper BT Bold Italics"/>
                <a:cs typeface="Cooper BT Bold Italics"/>
                <a:sym typeface="Cooper BT Bold Italics"/>
              </a:rPr>
              <a:t>03.</a:t>
            </a:r>
          </a:p>
        </p:txBody>
      </p:sp>
      <p:sp>
        <p:nvSpPr>
          <p:cNvPr id="24" name="AutoShape 24"/>
          <p:cNvSpPr/>
          <p:nvPr/>
        </p:nvSpPr>
        <p:spPr>
          <a:xfrm>
            <a:off x="1649832" y="5981700"/>
            <a:ext cx="7052154" cy="0"/>
          </a:xfrm>
          <a:prstGeom prst="line">
            <a:avLst/>
          </a:prstGeom>
          <a:ln w="47625" cap="rnd">
            <a:solidFill>
              <a:srgbClr val="861A1A"/>
            </a:solidFill>
            <a:prstDash val="solid"/>
            <a:headEnd type="none" w="sm" len="sm"/>
            <a:tailEnd type="oval" w="lg" len="lg"/>
          </a:ln>
        </p:spPr>
      </p:sp>
      <p:sp>
        <p:nvSpPr>
          <p:cNvPr id="25" name="AutoShape 25"/>
          <p:cNvSpPr/>
          <p:nvPr/>
        </p:nvSpPr>
        <p:spPr>
          <a:xfrm>
            <a:off x="5622427" y="8915200"/>
            <a:ext cx="7644040" cy="1"/>
          </a:xfrm>
          <a:prstGeom prst="line">
            <a:avLst/>
          </a:prstGeom>
          <a:ln w="47625" cap="rnd">
            <a:solidFill>
              <a:srgbClr val="861A1A"/>
            </a:solidFill>
            <a:prstDash val="solid"/>
            <a:headEnd type="none" w="sm" len="sm"/>
            <a:tailEnd type="oval" w="lg" len="lg"/>
          </a:ln>
        </p:spPr>
      </p:sp>
      <p:sp>
        <p:nvSpPr>
          <p:cNvPr id="26" name="AutoShape 26"/>
          <p:cNvSpPr/>
          <p:nvPr/>
        </p:nvSpPr>
        <p:spPr>
          <a:xfrm>
            <a:off x="10021845" y="5981700"/>
            <a:ext cx="7052154" cy="0"/>
          </a:xfrm>
          <a:prstGeom prst="line">
            <a:avLst/>
          </a:prstGeom>
          <a:ln w="47625" cap="rnd">
            <a:solidFill>
              <a:srgbClr val="861A1A"/>
            </a:solidFill>
            <a:prstDash val="solid"/>
            <a:headEnd type="none" w="sm" len="sm"/>
            <a:tailEnd type="oval" w="lg" len="lg"/>
          </a:ln>
        </p:spPr>
      </p:sp>
      <p:sp>
        <p:nvSpPr>
          <p:cNvPr id="28" name="TextBox 28"/>
          <p:cNvSpPr txBox="1"/>
          <p:nvPr/>
        </p:nvSpPr>
        <p:spPr>
          <a:xfrm>
            <a:off x="3374424" y="4246171"/>
            <a:ext cx="4949358" cy="1269578"/>
          </a:xfrm>
          <a:prstGeom prst="rect">
            <a:avLst/>
          </a:prstGeom>
        </p:spPr>
        <p:txBody>
          <a:bodyPr wrap="square" lIns="0" tIns="0" rIns="0" bIns="0" rtlCol="0" anchor="t">
            <a:spAutoFit/>
          </a:bodyPr>
          <a:lstStyle/>
          <a:p>
            <a:pPr algn="l">
              <a:lnSpc>
                <a:spcPts val="3325"/>
              </a:lnSpc>
            </a:pPr>
            <a:r>
              <a:rPr lang="en-US" sz="2800" dirty="0" err="1">
                <a:solidFill>
                  <a:srgbClr val="861A1A"/>
                </a:solidFill>
                <a:latin typeface="Cooper BT Light"/>
                <a:ea typeface="Cooper BT Light"/>
                <a:cs typeface="Cooper BT Light"/>
                <a:sym typeface="Cooper BT Light"/>
              </a:rPr>
              <a:t>Bagaiman</a:t>
            </a:r>
            <a:r>
              <a:rPr lang="en-US" sz="2800" dirty="0">
                <a:solidFill>
                  <a:srgbClr val="861A1A"/>
                </a:solidFill>
                <a:latin typeface="Cooper BT Light"/>
                <a:ea typeface="Cooper BT Light"/>
                <a:cs typeface="Cooper BT Light"/>
                <a:sym typeface="Cooper BT Light"/>
              </a:rPr>
              <a:t> </a:t>
            </a:r>
            <a:r>
              <a:rPr lang="en-US" sz="2800" dirty="0" err="1">
                <a:solidFill>
                  <a:srgbClr val="9D4946"/>
                </a:solidFill>
                <a:latin typeface="Cooper BT Light"/>
                <a:ea typeface="Cooper BT Light"/>
                <a:cs typeface="Cooper BT Light"/>
                <a:sym typeface="Cooper BT Light"/>
              </a:rPr>
              <a:t>penerapan</a:t>
            </a:r>
            <a:r>
              <a:rPr lang="en-US" sz="2800" dirty="0">
                <a:solidFill>
                  <a:srgbClr val="861A1A"/>
                </a:solidFill>
                <a:latin typeface="Cooper BT Light"/>
                <a:ea typeface="Cooper BT Light"/>
                <a:cs typeface="Cooper BT Light"/>
                <a:sym typeface="Cooper BT Light"/>
              </a:rPr>
              <a:t> Teknik text mining pada data </a:t>
            </a:r>
            <a:r>
              <a:rPr lang="en-US" sz="2800" dirty="0" err="1">
                <a:solidFill>
                  <a:srgbClr val="861A1A"/>
                </a:solidFill>
                <a:latin typeface="Cooper BT Light"/>
                <a:ea typeface="Cooper BT Light"/>
                <a:cs typeface="Cooper BT Light"/>
                <a:sym typeface="Cooper BT Light"/>
              </a:rPr>
              <a:t>ulasan</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produk</a:t>
            </a:r>
            <a:r>
              <a:rPr lang="en-US" sz="2800" dirty="0">
                <a:solidFill>
                  <a:srgbClr val="861A1A"/>
                </a:solidFill>
                <a:latin typeface="Cooper BT Light"/>
                <a:ea typeface="Cooper BT Light"/>
                <a:cs typeface="Cooper BT Light"/>
                <a:sym typeface="Cooper BT Light"/>
              </a:rPr>
              <a:t> Tokopedia?</a:t>
            </a:r>
          </a:p>
        </p:txBody>
      </p:sp>
      <p:sp>
        <p:nvSpPr>
          <p:cNvPr id="30" name="TextBox 30"/>
          <p:cNvSpPr txBox="1"/>
          <p:nvPr/>
        </p:nvSpPr>
        <p:spPr>
          <a:xfrm>
            <a:off x="6607228" y="7021114"/>
            <a:ext cx="6829233" cy="1692771"/>
          </a:xfrm>
          <a:prstGeom prst="rect">
            <a:avLst/>
          </a:prstGeom>
        </p:spPr>
        <p:txBody>
          <a:bodyPr wrap="square" lIns="0" tIns="0" rIns="0" bIns="0" rtlCol="0" anchor="t">
            <a:spAutoFit/>
          </a:bodyPr>
          <a:lstStyle/>
          <a:p>
            <a:pPr algn="l">
              <a:lnSpc>
                <a:spcPts val="3325"/>
              </a:lnSpc>
            </a:pPr>
            <a:r>
              <a:rPr lang="en-US" sz="2800" dirty="0" err="1">
                <a:solidFill>
                  <a:srgbClr val="861A1A"/>
                </a:solidFill>
                <a:latin typeface="Cooper BT Light"/>
                <a:ea typeface="Cooper BT Light"/>
                <a:cs typeface="Cooper BT Light"/>
                <a:sym typeface="Cooper BT Light"/>
              </a:rPr>
              <a:t>Seberapa</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baik</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performa</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metode</a:t>
            </a:r>
            <a:r>
              <a:rPr lang="en-US" sz="2800" dirty="0">
                <a:solidFill>
                  <a:srgbClr val="861A1A"/>
                </a:solidFill>
                <a:latin typeface="Cooper BT Light"/>
                <a:ea typeface="Cooper BT Light"/>
                <a:cs typeface="Cooper BT Light"/>
                <a:sym typeface="Cooper BT Light"/>
              </a:rPr>
              <a:t> Naïve Bayes </a:t>
            </a:r>
            <a:r>
              <a:rPr lang="en-US" sz="2800" dirty="0" err="1">
                <a:solidFill>
                  <a:srgbClr val="861A1A"/>
                </a:solidFill>
                <a:latin typeface="Cooper BT Light"/>
                <a:ea typeface="Cooper BT Light"/>
                <a:cs typeface="Cooper BT Light"/>
                <a:sym typeface="Cooper BT Light"/>
              </a:rPr>
              <a:t>dalam</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mengklasiifikasikan</a:t>
            </a:r>
            <a:r>
              <a:rPr lang="en-US" sz="2800" dirty="0">
                <a:solidFill>
                  <a:srgbClr val="861A1A"/>
                </a:solidFill>
                <a:latin typeface="Cooper BT Light"/>
                <a:ea typeface="Cooper BT Light"/>
                <a:cs typeface="Cooper BT Light"/>
                <a:sym typeface="Cooper BT Light"/>
              </a:rPr>
              <a:t> sentiment </a:t>
            </a:r>
            <a:r>
              <a:rPr lang="en-US" sz="2800" dirty="0" err="1">
                <a:solidFill>
                  <a:srgbClr val="861A1A"/>
                </a:solidFill>
                <a:latin typeface="Cooper BT Light"/>
                <a:ea typeface="Cooper BT Light"/>
                <a:cs typeface="Cooper BT Light"/>
                <a:sym typeface="Cooper BT Light"/>
              </a:rPr>
              <a:t>ulasan</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produk</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ke</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dalam</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kategori</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positif</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netral</a:t>
            </a:r>
            <a:r>
              <a:rPr lang="en-US" sz="2800" dirty="0">
                <a:solidFill>
                  <a:srgbClr val="861A1A"/>
                </a:solidFill>
                <a:latin typeface="Cooper BT Light"/>
                <a:ea typeface="Cooper BT Light"/>
                <a:cs typeface="Cooper BT Light"/>
                <a:sym typeface="Cooper BT Light"/>
              </a:rPr>
              <a:t>, dan </a:t>
            </a:r>
            <a:r>
              <a:rPr lang="en-US" sz="2800" dirty="0" err="1">
                <a:solidFill>
                  <a:srgbClr val="861A1A"/>
                </a:solidFill>
                <a:latin typeface="Cooper BT Light"/>
                <a:ea typeface="Cooper BT Light"/>
                <a:cs typeface="Cooper BT Light"/>
                <a:sym typeface="Cooper BT Light"/>
              </a:rPr>
              <a:t>negatif</a:t>
            </a:r>
            <a:r>
              <a:rPr lang="en-US" sz="2800" dirty="0">
                <a:solidFill>
                  <a:srgbClr val="861A1A"/>
                </a:solidFill>
                <a:latin typeface="Cooper BT Light"/>
                <a:ea typeface="Cooper BT Light"/>
                <a:cs typeface="Cooper BT Light"/>
                <a:sym typeface="Cooper BT Light"/>
              </a:rPr>
              <a:t>?</a:t>
            </a:r>
          </a:p>
        </p:txBody>
      </p:sp>
      <p:sp>
        <p:nvSpPr>
          <p:cNvPr id="32" name="TextBox 32"/>
          <p:cNvSpPr txBox="1"/>
          <p:nvPr/>
        </p:nvSpPr>
        <p:spPr>
          <a:xfrm>
            <a:off x="11372846" y="4139934"/>
            <a:ext cx="5563374" cy="1692771"/>
          </a:xfrm>
          <a:prstGeom prst="rect">
            <a:avLst/>
          </a:prstGeom>
        </p:spPr>
        <p:txBody>
          <a:bodyPr wrap="square" lIns="0" tIns="0" rIns="0" bIns="0" rtlCol="0" anchor="t">
            <a:spAutoFit/>
          </a:bodyPr>
          <a:lstStyle/>
          <a:p>
            <a:pPr algn="l">
              <a:lnSpc>
                <a:spcPts val="3325"/>
              </a:lnSpc>
            </a:pPr>
            <a:r>
              <a:rPr lang="en-US" sz="2800" dirty="0" err="1">
                <a:solidFill>
                  <a:srgbClr val="861A1A"/>
                </a:solidFill>
                <a:latin typeface="Cooper BT Light"/>
                <a:ea typeface="Cooper BT Light"/>
                <a:cs typeface="Cooper BT Light"/>
                <a:sym typeface="Cooper BT Light"/>
              </a:rPr>
              <a:t>Bagaimana</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hasil</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klasifikasi</a:t>
            </a:r>
            <a:r>
              <a:rPr lang="en-US" sz="2800" dirty="0">
                <a:solidFill>
                  <a:srgbClr val="861A1A"/>
                </a:solidFill>
                <a:latin typeface="Cooper BT Light"/>
                <a:ea typeface="Cooper BT Light"/>
                <a:cs typeface="Cooper BT Light"/>
                <a:sym typeface="Cooper BT Light"/>
              </a:rPr>
              <a:t> sentiment </a:t>
            </a:r>
            <a:r>
              <a:rPr lang="en-US" sz="2800" dirty="0" err="1">
                <a:solidFill>
                  <a:srgbClr val="861A1A"/>
                </a:solidFill>
                <a:latin typeface="Cooper BT Light"/>
                <a:ea typeface="Cooper BT Light"/>
                <a:cs typeface="Cooper BT Light"/>
                <a:sym typeface="Cooper BT Light"/>
              </a:rPr>
              <a:t>ulasan</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produk</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menggunakan</a:t>
            </a:r>
            <a:r>
              <a:rPr lang="en-US" sz="2800" dirty="0">
                <a:solidFill>
                  <a:srgbClr val="861A1A"/>
                </a:solidFill>
                <a:latin typeface="Cooper BT Light"/>
                <a:ea typeface="Cooper BT Light"/>
                <a:cs typeface="Cooper BT Light"/>
                <a:sym typeface="Cooper BT Light"/>
              </a:rPr>
              <a:t> </a:t>
            </a:r>
            <a:r>
              <a:rPr lang="en-US" sz="2800" dirty="0" err="1">
                <a:solidFill>
                  <a:srgbClr val="861A1A"/>
                </a:solidFill>
                <a:latin typeface="Cooper BT Light"/>
                <a:ea typeface="Cooper BT Light"/>
                <a:cs typeface="Cooper BT Light"/>
                <a:sym typeface="Cooper BT Light"/>
              </a:rPr>
              <a:t>metode</a:t>
            </a:r>
            <a:r>
              <a:rPr lang="en-US" sz="2800" dirty="0">
                <a:solidFill>
                  <a:srgbClr val="861A1A"/>
                </a:solidFill>
                <a:latin typeface="Cooper BT Light"/>
                <a:ea typeface="Cooper BT Light"/>
                <a:cs typeface="Cooper BT Light"/>
                <a:sym typeface="Cooper BT Light"/>
              </a:rPr>
              <a:t> Naïve Bayes?</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grpSp>
        <p:nvGrpSpPr>
          <p:cNvPr id="15" name="Group 15"/>
          <p:cNvGrpSpPr/>
          <p:nvPr/>
        </p:nvGrpSpPr>
        <p:grpSpPr>
          <a:xfrm rot="-5400000">
            <a:off x="966449" y="3965935"/>
            <a:ext cx="5975086" cy="4609644"/>
            <a:chOff x="0" y="0"/>
            <a:chExt cx="526781" cy="406400"/>
          </a:xfrm>
        </p:grpSpPr>
        <p:sp>
          <p:nvSpPr>
            <p:cNvPr id="16" name="Freeform 16"/>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17" name="TextBox 17"/>
            <p:cNvSpPr txBox="1"/>
            <p:nvPr/>
          </p:nvSpPr>
          <p:spPr>
            <a:xfrm>
              <a:off x="0" y="-38100"/>
              <a:ext cx="526781" cy="444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5400000">
            <a:off x="6156457" y="3965935"/>
            <a:ext cx="5975086" cy="4609644"/>
            <a:chOff x="0" y="0"/>
            <a:chExt cx="526781" cy="406400"/>
          </a:xfrm>
        </p:grpSpPr>
        <p:sp>
          <p:nvSpPr>
            <p:cNvPr id="19" name="Freeform 19"/>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0" name="TextBox 20"/>
            <p:cNvSpPr txBox="1"/>
            <p:nvPr/>
          </p:nvSpPr>
          <p:spPr>
            <a:xfrm>
              <a:off x="0" y="-38100"/>
              <a:ext cx="526781" cy="444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rot="-5400000">
            <a:off x="11346465" y="3965935"/>
            <a:ext cx="5975086" cy="4609644"/>
            <a:chOff x="0" y="0"/>
            <a:chExt cx="526781" cy="406400"/>
          </a:xfrm>
        </p:grpSpPr>
        <p:sp>
          <p:nvSpPr>
            <p:cNvPr id="22" name="Freeform 22"/>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3" name="TextBox 23"/>
            <p:cNvSpPr txBox="1"/>
            <p:nvPr/>
          </p:nvSpPr>
          <p:spPr>
            <a:xfrm>
              <a:off x="0" y="-38100"/>
              <a:ext cx="526781" cy="444500"/>
            </a:xfrm>
            <a:prstGeom prst="rect">
              <a:avLst/>
            </a:prstGeom>
          </p:spPr>
          <p:txBody>
            <a:bodyPr lIns="50800" tIns="50800" rIns="50800" bIns="50800" rtlCol="0" anchor="ctr"/>
            <a:lstStyle/>
            <a:p>
              <a:pPr algn="ctr">
                <a:lnSpc>
                  <a:spcPts val="2659"/>
                </a:lnSpc>
              </a:pPr>
              <a:endParaRPr/>
            </a:p>
          </p:txBody>
        </p:sp>
      </p:grpSp>
      <p:sp>
        <p:nvSpPr>
          <p:cNvPr id="24" name="Freeform 24"/>
          <p:cNvSpPr/>
          <p:nvPr/>
        </p:nvSpPr>
        <p:spPr>
          <a:xfrm>
            <a:off x="3319793" y="2911739"/>
            <a:ext cx="1268399" cy="1284454"/>
          </a:xfrm>
          <a:custGeom>
            <a:avLst/>
            <a:gdLst/>
            <a:ahLst/>
            <a:cxnLst/>
            <a:rect l="l" t="t" r="r" b="b"/>
            <a:pathLst>
              <a:path w="1268399" h="1284454">
                <a:moveTo>
                  <a:pt x="0" y="0"/>
                </a:moveTo>
                <a:lnTo>
                  <a:pt x="1268399" y="0"/>
                </a:lnTo>
                <a:lnTo>
                  <a:pt x="1268399" y="1284454"/>
                </a:lnTo>
                <a:lnTo>
                  <a:pt x="0" y="1284454"/>
                </a:lnTo>
                <a:lnTo>
                  <a:pt x="0" y="0"/>
                </a:lnTo>
                <a:close/>
              </a:path>
            </a:pathLst>
          </a:custGeom>
          <a:blipFill>
            <a:blip r:embed="rId2"/>
            <a:stretch>
              <a:fillRect/>
            </a:stretch>
          </a:blipFill>
        </p:spPr>
      </p:sp>
      <p:sp>
        <p:nvSpPr>
          <p:cNvPr id="25" name="TextBox 25"/>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04</a:t>
            </a:r>
          </a:p>
        </p:txBody>
      </p:sp>
      <p:sp>
        <p:nvSpPr>
          <p:cNvPr id="26" name="TextBox 2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27" name="TextBox 2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28" name="TextBox 28"/>
          <p:cNvSpPr txBox="1"/>
          <p:nvPr/>
        </p:nvSpPr>
        <p:spPr>
          <a:xfrm>
            <a:off x="4901804" y="1619699"/>
            <a:ext cx="8484392" cy="1184275"/>
          </a:xfrm>
          <a:prstGeom prst="rect">
            <a:avLst/>
          </a:prstGeom>
        </p:spPr>
        <p:txBody>
          <a:bodyPr lIns="0" tIns="0" rIns="0" bIns="0" rtlCol="0" anchor="t">
            <a:spAutoFit/>
          </a:bodyPr>
          <a:lstStyle/>
          <a:p>
            <a:pPr algn="ctr">
              <a:lnSpc>
                <a:spcPts val="9799"/>
              </a:lnSpc>
            </a:pPr>
            <a:r>
              <a:rPr lang="en-US" sz="6999">
                <a:solidFill>
                  <a:srgbClr val="861A1A"/>
                </a:solidFill>
                <a:latin typeface="Cooper BT Light"/>
                <a:ea typeface="Cooper BT Light"/>
                <a:cs typeface="Cooper BT Light"/>
                <a:sym typeface="Cooper BT Light"/>
              </a:rPr>
              <a:t>Tujuan Penelitian</a:t>
            </a:r>
          </a:p>
        </p:txBody>
      </p:sp>
      <p:sp>
        <p:nvSpPr>
          <p:cNvPr id="29" name="Freeform 29"/>
          <p:cNvSpPr/>
          <p:nvPr/>
        </p:nvSpPr>
        <p:spPr>
          <a:xfrm>
            <a:off x="8509801" y="2911739"/>
            <a:ext cx="1268399" cy="1284454"/>
          </a:xfrm>
          <a:custGeom>
            <a:avLst/>
            <a:gdLst/>
            <a:ahLst/>
            <a:cxnLst/>
            <a:rect l="l" t="t" r="r" b="b"/>
            <a:pathLst>
              <a:path w="1268399" h="1284454">
                <a:moveTo>
                  <a:pt x="0" y="0"/>
                </a:moveTo>
                <a:lnTo>
                  <a:pt x="1268398" y="0"/>
                </a:lnTo>
                <a:lnTo>
                  <a:pt x="1268398" y="1284454"/>
                </a:lnTo>
                <a:lnTo>
                  <a:pt x="0" y="1284454"/>
                </a:lnTo>
                <a:lnTo>
                  <a:pt x="0" y="0"/>
                </a:lnTo>
                <a:close/>
              </a:path>
            </a:pathLst>
          </a:custGeom>
          <a:blipFill>
            <a:blip r:embed="rId2"/>
            <a:stretch>
              <a:fillRect/>
            </a:stretch>
          </a:blipFill>
        </p:spPr>
      </p:sp>
      <p:sp>
        <p:nvSpPr>
          <p:cNvPr id="30" name="Freeform 30"/>
          <p:cNvSpPr/>
          <p:nvPr/>
        </p:nvSpPr>
        <p:spPr>
          <a:xfrm>
            <a:off x="13699808" y="2911739"/>
            <a:ext cx="1268399" cy="1284454"/>
          </a:xfrm>
          <a:custGeom>
            <a:avLst/>
            <a:gdLst/>
            <a:ahLst/>
            <a:cxnLst/>
            <a:rect l="l" t="t" r="r" b="b"/>
            <a:pathLst>
              <a:path w="1268399" h="1284454">
                <a:moveTo>
                  <a:pt x="0" y="0"/>
                </a:moveTo>
                <a:lnTo>
                  <a:pt x="1268399" y="0"/>
                </a:lnTo>
                <a:lnTo>
                  <a:pt x="1268399" y="1284454"/>
                </a:lnTo>
                <a:lnTo>
                  <a:pt x="0" y="1284454"/>
                </a:lnTo>
                <a:lnTo>
                  <a:pt x="0" y="0"/>
                </a:lnTo>
                <a:close/>
              </a:path>
            </a:pathLst>
          </a:custGeom>
          <a:blipFill>
            <a:blip r:embed="rId2"/>
            <a:stretch>
              <a:fillRect/>
            </a:stretch>
          </a:blipFill>
        </p:spPr>
      </p:sp>
      <p:sp>
        <p:nvSpPr>
          <p:cNvPr id="31" name="TextBox 31"/>
          <p:cNvSpPr txBox="1"/>
          <p:nvPr/>
        </p:nvSpPr>
        <p:spPr>
          <a:xfrm>
            <a:off x="3098562" y="3150106"/>
            <a:ext cx="1710860" cy="721996"/>
          </a:xfrm>
          <a:prstGeom prst="rect">
            <a:avLst/>
          </a:prstGeom>
        </p:spPr>
        <p:txBody>
          <a:bodyPr lIns="0" tIns="0" rIns="0" bIns="0" rtlCol="0" anchor="t">
            <a:spAutoFit/>
          </a:bodyPr>
          <a:lstStyle/>
          <a:p>
            <a:pPr algn="ctr">
              <a:lnSpc>
                <a:spcPts val="5879"/>
              </a:lnSpc>
            </a:pPr>
            <a:r>
              <a:rPr lang="en-US" sz="4199" b="1" i="1">
                <a:solidFill>
                  <a:srgbClr val="861A1A"/>
                </a:solidFill>
                <a:latin typeface="Cooper BT Bold Italics"/>
                <a:ea typeface="Cooper BT Bold Italics"/>
                <a:cs typeface="Cooper BT Bold Italics"/>
                <a:sym typeface="Cooper BT Bold Italics"/>
              </a:rPr>
              <a:t>01.</a:t>
            </a:r>
          </a:p>
        </p:txBody>
      </p:sp>
      <p:sp>
        <p:nvSpPr>
          <p:cNvPr id="32" name="TextBox 32"/>
          <p:cNvSpPr txBox="1"/>
          <p:nvPr/>
        </p:nvSpPr>
        <p:spPr>
          <a:xfrm>
            <a:off x="8288570" y="3150106"/>
            <a:ext cx="1710860" cy="721996"/>
          </a:xfrm>
          <a:prstGeom prst="rect">
            <a:avLst/>
          </a:prstGeom>
        </p:spPr>
        <p:txBody>
          <a:bodyPr lIns="0" tIns="0" rIns="0" bIns="0" rtlCol="0" anchor="t">
            <a:spAutoFit/>
          </a:bodyPr>
          <a:lstStyle/>
          <a:p>
            <a:pPr algn="ctr">
              <a:lnSpc>
                <a:spcPts val="5879"/>
              </a:lnSpc>
            </a:pPr>
            <a:r>
              <a:rPr lang="en-US" sz="4199" b="1" i="1">
                <a:solidFill>
                  <a:srgbClr val="861A1A"/>
                </a:solidFill>
                <a:latin typeface="Cooper BT Bold Italics"/>
                <a:ea typeface="Cooper BT Bold Italics"/>
                <a:cs typeface="Cooper BT Bold Italics"/>
                <a:sym typeface="Cooper BT Bold Italics"/>
              </a:rPr>
              <a:t>02.</a:t>
            </a:r>
          </a:p>
        </p:txBody>
      </p:sp>
      <p:sp>
        <p:nvSpPr>
          <p:cNvPr id="33" name="TextBox 33"/>
          <p:cNvSpPr txBox="1"/>
          <p:nvPr/>
        </p:nvSpPr>
        <p:spPr>
          <a:xfrm>
            <a:off x="13478578" y="3150106"/>
            <a:ext cx="1710860" cy="721996"/>
          </a:xfrm>
          <a:prstGeom prst="rect">
            <a:avLst/>
          </a:prstGeom>
        </p:spPr>
        <p:txBody>
          <a:bodyPr lIns="0" tIns="0" rIns="0" bIns="0" rtlCol="0" anchor="t">
            <a:spAutoFit/>
          </a:bodyPr>
          <a:lstStyle/>
          <a:p>
            <a:pPr algn="ctr">
              <a:lnSpc>
                <a:spcPts val="5879"/>
              </a:lnSpc>
            </a:pPr>
            <a:r>
              <a:rPr lang="en-US" sz="4199" b="1" i="1">
                <a:solidFill>
                  <a:srgbClr val="861A1A"/>
                </a:solidFill>
                <a:latin typeface="Cooper BT Bold Italics"/>
                <a:ea typeface="Cooper BT Bold Italics"/>
                <a:cs typeface="Cooper BT Bold Italics"/>
                <a:sym typeface="Cooper BT Bold Italics"/>
              </a:rPr>
              <a:t>03.</a:t>
            </a:r>
          </a:p>
        </p:txBody>
      </p:sp>
      <p:sp>
        <p:nvSpPr>
          <p:cNvPr id="37" name="TextBox 37"/>
          <p:cNvSpPr txBox="1"/>
          <p:nvPr/>
        </p:nvSpPr>
        <p:spPr>
          <a:xfrm>
            <a:off x="2434943" y="5143500"/>
            <a:ext cx="3133360" cy="1775743"/>
          </a:xfrm>
          <a:prstGeom prst="rect">
            <a:avLst/>
          </a:prstGeom>
        </p:spPr>
        <p:txBody>
          <a:bodyPr wrap="square" lIns="0" tIns="0" rIns="0" bIns="0" rtlCol="0" anchor="t">
            <a:spAutoFit/>
          </a:bodyPr>
          <a:lstStyle/>
          <a:p>
            <a:pPr algn="ctr">
              <a:lnSpc>
                <a:spcPts val="3499"/>
              </a:lnSpc>
            </a:pPr>
            <a:r>
              <a:rPr lang="id-ID" sz="2800" dirty="0">
                <a:solidFill>
                  <a:schemeClr val="bg1"/>
                </a:solidFill>
                <a:latin typeface="Cooper BT Light" panose="020B0604020202020204" charset="0"/>
              </a:rPr>
              <a:t>Menerapkan teknik text mining pada data ulasan produk Tokopedia.</a:t>
            </a:r>
            <a:endParaRPr lang="en-US" sz="2499" dirty="0">
              <a:solidFill>
                <a:schemeClr val="bg1"/>
              </a:solidFill>
              <a:latin typeface="Cooper BT Light" panose="020B0604020202020204" charset="0"/>
              <a:ea typeface="Cooper BT Light"/>
              <a:cs typeface="Cooper BT Light"/>
              <a:sym typeface="Cooper BT Light"/>
            </a:endParaRPr>
          </a:p>
        </p:txBody>
      </p:sp>
      <p:sp>
        <p:nvSpPr>
          <p:cNvPr id="38" name="TextBox 38"/>
          <p:cNvSpPr txBox="1"/>
          <p:nvPr/>
        </p:nvSpPr>
        <p:spPr>
          <a:xfrm>
            <a:off x="7420249" y="5093660"/>
            <a:ext cx="3669921" cy="3114379"/>
          </a:xfrm>
          <a:prstGeom prst="rect">
            <a:avLst/>
          </a:prstGeom>
        </p:spPr>
        <p:txBody>
          <a:bodyPr wrap="square" lIns="0" tIns="0" rIns="0" bIns="0" rtlCol="0" anchor="t">
            <a:spAutoFit/>
          </a:bodyPr>
          <a:lstStyle/>
          <a:p>
            <a:pPr algn="ctr">
              <a:lnSpc>
                <a:spcPts val="3499"/>
              </a:lnSpc>
            </a:pPr>
            <a:r>
              <a:rPr lang="id-ID" sz="2800" dirty="0">
                <a:solidFill>
                  <a:schemeClr val="bg1"/>
                </a:solidFill>
                <a:latin typeface="Cooper BT Light" panose="020B0604020202020204" charset="0"/>
              </a:rPr>
              <a:t>Mengklasifikasikan sentimen ulasan produk menggunakan metode Naive Bayes ke dalam kategori positif, netral, dan negatif.</a:t>
            </a:r>
            <a:endParaRPr lang="en-US" sz="2499" dirty="0">
              <a:solidFill>
                <a:schemeClr val="bg1"/>
              </a:solidFill>
              <a:latin typeface="Cooper BT Light" panose="020B0604020202020204" charset="0"/>
              <a:ea typeface="Cooper BT Light"/>
              <a:cs typeface="Cooper BT Light"/>
              <a:sym typeface="Cooper BT Light"/>
            </a:endParaRPr>
          </a:p>
        </p:txBody>
      </p:sp>
      <p:sp>
        <p:nvSpPr>
          <p:cNvPr id="39" name="TextBox 39"/>
          <p:cNvSpPr txBox="1"/>
          <p:nvPr/>
        </p:nvSpPr>
        <p:spPr>
          <a:xfrm>
            <a:off x="12622541" y="4804688"/>
            <a:ext cx="3422932" cy="4012060"/>
          </a:xfrm>
          <a:prstGeom prst="rect">
            <a:avLst/>
          </a:prstGeom>
        </p:spPr>
        <p:txBody>
          <a:bodyPr wrap="square" lIns="0" tIns="0" rIns="0" bIns="0" rtlCol="0" anchor="t">
            <a:spAutoFit/>
          </a:bodyPr>
          <a:lstStyle/>
          <a:p>
            <a:pPr algn="ctr">
              <a:lnSpc>
                <a:spcPts val="3499"/>
              </a:lnSpc>
            </a:pPr>
            <a:r>
              <a:rPr lang="id-ID" sz="2800" dirty="0">
                <a:solidFill>
                  <a:schemeClr val="bg1"/>
                </a:solidFill>
                <a:latin typeface="Cooper BT Light" panose="020B0604020202020204" charset="0"/>
              </a:rPr>
              <a:t>Me</a:t>
            </a:r>
            <a:r>
              <a:rPr lang="en-US" sz="2800" dirty="0" err="1">
                <a:solidFill>
                  <a:schemeClr val="bg1"/>
                </a:solidFill>
                <a:latin typeface="Cooper BT Light" panose="020B0604020202020204" charset="0"/>
              </a:rPr>
              <a:t>ngevaluasi</a:t>
            </a:r>
            <a:r>
              <a:rPr lang="en-US" sz="2800" dirty="0">
                <a:solidFill>
                  <a:schemeClr val="bg1"/>
                </a:solidFill>
                <a:latin typeface="Cooper BT Light" panose="020B0604020202020204" charset="0"/>
              </a:rPr>
              <a:t> </a:t>
            </a:r>
            <a:r>
              <a:rPr lang="id-ID" sz="2800" dirty="0">
                <a:solidFill>
                  <a:schemeClr val="bg1"/>
                </a:solidFill>
                <a:latin typeface="Cooper BT Light" panose="020B0604020202020204" charset="0"/>
              </a:rPr>
              <a:t> performa metode Naive Bayes dalam mengklasifikasikan sentimen ulasan produk </a:t>
            </a:r>
            <a:r>
              <a:rPr lang="en-US" sz="2800" dirty="0">
                <a:solidFill>
                  <a:schemeClr val="bg1"/>
                </a:solidFill>
                <a:latin typeface="Cooper BT Light" panose="020B0604020202020204" charset="0"/>
              </a:rPr>
              <a:t>online </a:t>
            </a:r>
            <a:r>
              <a:rPr lang="id-ID" sz="2800" dirty="0">
                <a:solidFill>
                  <a:schemeClr val="bg1"/>
                </a:solidFill>
                <a:latin typeface="Cooper BT Light" panose="020B0604020202020204" charset="0"/>
              </a:rPr>
              <a:t>berdasarkan nilai akurasi, precision, dan recall.</a:t>
            </a:r>
            <a:endParaRPr lang="en-US" sz="2499" dirty="0">
              <a:solidFill>
                <a:schemeClr val="bg1"/>
              </a:solidFill>
              <a:latin typeface="Cooper BT Light" panose="020B0604020202020204" charset="0"/>
              <a:ea typeface="Cooper BT Light"/>
              <a:cs typeface="Cooper BT Light"/>
              <a:sym typeface="Cooper B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4459606"/>
            <a:ext cx="18288000" cy="5827394"/>
            <a:chOff x="0" y="0"/>
            <a:chExt cx="4816593" cy="1534787"/>
          </a:xfrm>
        </p:grpSpPr>
        <p:sp>
          <p:nvSpPr>
            <p:cNvPr id="3" name="Freeform 3"/>
            <p:cNvSpPr/>
            <p:nvPr/>
          </p:nvSpPr>
          <p:spPr>
            <a:xfrm>
              <a:off x="0" y="0"/>
              <a:ext cx="4816592" cy="1534787"/>
            </a:xfrm>
            <a:custGeom>
              <a:avLst/>
              <a:gdLst/>
              <a:ahLst/>
              <a:cxnLst/>
              <a:rect l="l" t="t" r="r" b="b"/>
              <a:pathLst>
                <a:path w="4816592" h="1534787">
                  <a:moveTo>
                    <a:pt x="0" y="0"/>
                  </a:moveTo>
                  <a:lnTo>
                    <a:pt x="4816592" y="0"/>
                  </a:lnTo>
                  <a:lnTo>
                    <a:pt x="4816592" y="1534787"/>
                  </a:lnTo>
                  <a:lnTo>
                    <a:pt x="0" y="1534787"/>
                  </a:lnTo>
                  <a:close/>
                </a:path>
              </a:pathLst>
            </a:custGeom>
            <a:solidFill>
              <a:srgbClr val="E8DED0"/>
            </a:solidFill>
          </p:spPr>
        </p:sp>
        <p:sp>
          <p:nvSpPr>
            <p:cNvPr id="4" name="TextBox 4"/>
            <p:cNvSpPr txBox="1"/>
            <p:nvPr/>
          </p:nvSpPr>
          <p:spPr>
            <a:xfrm>
              <a:off x="0" y="-38100"/>
              <a:ext cx="4816593" cy="157288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10001060"/>
            <a:ext cx="18288000" cy="285940"/>
            <a:chOff x="0" y="0"/>
            <a:chExt cx="4816593" cy="75309"/>
          </a:xfrm>
        </p:grpSpPr>
        <p:sp>
          <p:nvSpPr>
            <p:cNvPr id="6" name="Freeform 6"/>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7" name="TextBox 7"/>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sp>
        <p:nvSpPr>
          <p:cNvPr id="9" name="TextBox 9"/>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05</a:t>
            </a:r>
          </a:p>
        </p:txBody>
      </p:sp>
      <p:grpSp>
        <p:nvGrpSpPr>
          <p:cNvPr id="10" name="Group 10"/>
          <p:cNvGrpSpPr/>
          <p:nvPr/>
        </p:nvGrpSpPr>
        <p:grpSpPr>
          <a:xfrm>
            <a:off x="680510" y="634460"/>
            <a:ext cx="6642227" cy="788479"/>
            <a:chOff x="0" y="0"/>
            <a:chExt cx="3423554" cy="406400"/>
          </a:xfrm>
        </p:grpSpPr>
        <p:sp>
          <p:nvSpPr>
            <p:cNvPr id="11" name="Freeform 11"/>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2" name="TextBox 12"/>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4" name="Freeform 14"/>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5" name="Group 15"/>
          <p:cNvGrpSpPr/>
          <p:nvPr/>
        </p:nvGrpSpPr>
        <p:grpSpPr>
          <a:xfrm>
            <a:off x="11660216" y="634460"/>
            <a:ext cx="5947274" cy="788479"/>
            <a:chOff x="0" y="0"/>
            <a:chExt cx="3065360" cy="406400"/>
          </a:xfrm>
        </p:grpSpPr>
        <p:sp>
          <p:nvSpPr>
            <p:cNvPr id="16" name="Freeform 16"/>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7" name="TextBox 17"/>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8" name="AutoShape 18"/>
          <p:cNvSpPr/>
          <p:nvPr/>
        </p:nvSpPr>
        <p:spPr>
          <a:xfrm>
            <a:off x="7322736" y="1028700"/>
            <a:ext cx="4337480" cy="0"/>
          </a:xfrm>
          <a:prstGeom prst="line">
            <a:avLst/>
          </a:prstGeom>
          <a:ln w="19050" cap="flat">
            <a:solidFill>
              <a:srgbClr val="E8DED0"/>
            </a:solidFill>
            <a:prstDash val="solid"/>
            <a:headEnd type="none" w="sm" len="sm"/>
            <a:tailEnd type="none" w="sm" len="sm"/>
          </a:ln>
        </p:spPr>
      </p:sp>
      <p:sp>
        <p:nvSpPr>
          <p:cNvPr id="19" name="TextBox 19"/>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E8DED0"/>
                </a:solidFill>
                <a:latin typeface="Cooper BT Light Italics"/>
                <a:ea typeface="Cooper BT Light Italics"/>
                <a:cs typeface="Cooper BT Light Italics"/>
                <a:sym typeface="Cooper BT Light Italics"/>
              </a:rPr>
              <a:t>Sekolah</a:t>
            </a:r>
            <a:r>
              <a:rPr lang="en-US" sz="2400" i="1" spc="371" dirty="0">
                <a:solidFill>
                  <a:srgbClr val="E8DED0"/>
                </a:solidFill>
                <a:latin typeface="Cooper BT Light Italics"/>
                <a:ea typeface="Cooper BT Light Italics"/>
                <a:cs typeface="Cooper BT Light Italics"/>
                <a:sym typeface="Cooper BT Light Italics"/>
              </a:rPr>
              <a:t> Tinggi </a:t>
            </a:r>
            <a:r>
              <a:rPr lang="en-US" sz="2400" i="1" spc="371" dirty="0" err="1">
                <a:solidFill>
                  <a:srgbClr val="E8DED0"/>
                </a:solidFill>
                <a:latin typeface="Cooper BT Light Italics"/>
                <a:ea typeface="Cooper BT Light Italics"/>
                <a:cs typeface="Cooper BT Light Italics"/>
                <a:sym typeface="Cooper BT Light Italics"/>
              </a:rPr>
              <a:t>Ilmu</a:t>
            </a:r>
            <a:r>
              <a:rPr lang="en-US" sz="2400" i="1" spc="371" dirty="0">
                <a:solidFill>
                  <a:srgbClr val="E8DED0"/>
                </a:solidFill>
                <a:latin typeface="Cooper BT Light Italics"/>
                <a:ea typeface="Cooper BT Light Italics"/>
                <a:cs typeface="Cooper BT Light Italics"/>
                <a:sym typeface="Cooper BT Light Italics"/>
              </a:rPr>
              <a:t> </a:t>
            </a:r>
            <a:r>
              <a:rPr lang="en-US" sz="2400" i="1" spc="371" dirty="0" err="1">
                <a:solidFill>
                  <a:srgbClr val="E8DED0"/>
                </a:solidFill>
                <a:latin typeface="Cooper BT Light Italics"/>
                <a:ea typeface="Cooper BT Light Italics"/>
                <a:cs typeface="Cooper BT Light Italics"/>
                <a:sym typeface="Cooper BT Light Italics"/>
              </a:rPr>
              <a:t>Komputer</a:t>
            </a:r>
            <a:endParaRPr lang="en-US" sz="2400" i="1" spc="371" dirty="0">
              <a:solidFill>
                <a:srgbClr val="E8DED0"/>
              </a:solidFill>
              <a:latin typeface="Cooper BT Light Italics"/>
              <a:ea typeface="Cooper BT Light Italics"/>
              <a:cs typeface="Cooper BT Light Italics"/>
              <a:sym typeface="Cooper BT Light Italics"/>
            </a:endParaRPr>
          </a:p>
        </p:txBody>
      </p:sp>
      <p:sp>
        <p:nvSpPr>
          <p:cNvPr id="20" name="TextBox 20"/>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sp>
        <p:nvSpPr>
          <p:cNvPr id="21" name="TextBox 21"/>
          <p:cNvSpPr txBox="1"/>
          <p:nvPr/>
        </p:nvSpPr>
        <p:spPr>
          <a:xfrm>
            <a:off x="4483696" y="2818619"/>
            <a:ext cx="9320608" cy="1358903"/>
          </a:xfrm>
          <a:prstGeom prst="rect">
            <a:avLst/>
          </a:prstGeom>
        </p:spPr>
        <p:txBody>
          <a:bodyPr lIns="0" tIns="0" rIns="0" bIns="0" rtlCol="0" anchor="t">
            <a:spAutoFit/>
          </a:bodyPr>
          <a:lstStyle/>
          <a:p>
            <a:pPr algn="ctr">
              <a:lnSpc>
                <a:spcPts val="11199"/>
              </a:lnSpc>
            </a:pPr>
            <a:r>
              <a:rPr lang="en-US" sz="7999">
                <a:solidFill>
                  <a:srgbClr val="E8DED0"/>
                </a:solidFill>
                <a:latin typeface="Cooper BT Light"/>
                <a:ea typeface="Cooper BT Light"/>
                <a:cs typeface="Cooper BT Light"/>
                <a:sym typeface="Cooper BT Light"/>
              </a:rPr>
              <a:t>Landasan Teori</a:t>
            </a:r>
          </a:p>
        </p:txBody>
      </p:sp>
      <p:sp>
        <p:nvSpPr>
          <p:cNvPr id="22" name="TextBox 22"/>
          <p:cNvSpPr txBox="1"/>
          <p:nvPr/>
        </p:nvSpPr>
        <p:spPr>
          <a:xfrm>
            <a:off x="3124201" y="4895418"/>
            <a:ext cx="13030200" cy="4066562"/>
          </a:xfrm>
          <a:prstGeom prst="rect">
            <a:avLst/>
          </a:prstGeom>
        </p:spPr>
        <p:txBody>
          <a:bodyPr wrap="square" lIns="0" tIns="0" rIns="0" bIns="0" rtlCol="0" anchor="t">
            <a:spAutoFit/>
          </a:bodyPr>
          <a:lstStyle/>
          <a:p>
            <a:pPr marL="457200" indent="-457200" algn="just">
              <a:lnSpc>
                <a:spcPts val="4620"/>
              </a:lnSpc>
              <a:buFont typeface="Wingdings" panose="05000000000000000000" pitchFamily="2" charset="2"/>
              <a:buChar char="q"/>
            </a:pPr>
            <a:r>
              <a:rPr lang="id-ID" sz="2800" dirty="0">
                <a:solidFill>
                  <a:srgbClr val="9D4946"/>
                </a:solidFill>
                <a:latin typeface="Cooper BT Light" panose="020B0604020202020204" charset="0"/>
              </a:rPr>
              <a:t>Data Mining</a:t>
            </a:r>
            <a:endParaRPr lang="en-US" sz="2800" dirty="0">
              <a:solidFill>
                <a:srgbClr val="9D4946"/>
              </a:solidFill>
              <a:latin typeface="Cooper BT Light" panose="020B0604020202020204" charset="0"/>
            </a:endParaRPr>
          </a:p>
          <a:p>
            <a:pPr marL="457200" indent="-457200" algn="just">
              <a:lnSpc>
                <a:spcPts val="4620"/>
              </a:lnSpc>
              <a:buFont typeface="Wingdings" panose="05000000000000000000" pitchFamily="2" charset="2"/>
              <a:buChar char="q"/>
            </a:pPr>
            <a:r>
              <a:rPr lang="id-ID" sz="2800" dirty="0">
                <a:solidFill>
                  <a:srgbClr val="9D4946"/>
                </a:solidFill>
                <a:latin typeface="Cooper BT Light" panose="020B0604020202020204" charset="0"/>
              </a:rPr>
              <a:t>Text Mining</a:t>
            </a:r>
            <a:endParaRPr lang="en-US" sz="2800" dirty="0">
              <a:solidFill>
                <a:srgbClr val="9D4946"/>
              </a:solidFill>
              <a:latin typeface="Cooper BT Light" panose="020B0604020202020204" charset="0"/>
            </a:endParaRPr>
          </a:p>
          <a:p>
            <a:pPr marL="457200" indent="-457200" algn="just">
              <a:lnSpc>
                <a:spcPts val="4620"/>
              </a:lnSpc>
              <a:buFont typeface="Wingdings" panose="05000000000000000000" pitchFamily="2" charset="2"/>
              <a:buChar char="q"/>
            </a:pPr>
            <a:r>
              <a:rPr lang="id-ID" sz="2800" dirty="0">
                <a:solidFill>
                  <a:srgbClr val="9D4946"/>
                </a:solidFill>
                <a:latin typeface="Cooper BT Light" panose="020B0604020202020204" charset="0"/>
              </a:rPr>
              <a:t>Analisis Sentimen</a:t>
            </a:r>
            <a:endParaRPr lang="en-US" sz="2800" dirty="0">
              <a:solidFill>
                <a:srgbClr val="9D4946"/>
              </a:solidFill>
              <a:latin typeface="Cooper BT Light" panose="020B0604020202020204" charset="0"/>
            </a:endParaRPr>
          </a:p>
          <a:p>
            <a:pPr marL="457200" indent="-457200" algn="just">
              <a:lnSpc>
                <a:spcPts val="4620"/>
              </a:lnSpc>
              <a:buFont typeface="Wingdings" panose="05000000000000000000" pitchFamily="2" charset="2"/>
              <a:buChar char="q"/>
            </a:pPr>
            <a:r>
              <a:rPr lang="id-ID" sz="2800" dirty="0">
                <a:solidFill>
                  <a:srgbClr val="9D4946"/>
                </a:solidFill>
                <a:latin typeface="Cooper BT Light" panose="020B0604020202020204" charset="0"/>
              </a:rPr>
              <a:t>Preprocessing Teks</a:t>
            </a:r>
            <a:endParaRPr lang="en-US" sz="2800" dirty="0">
              <a:solidFill>
                <a:srgbClr val="9D4946"/>
              </a:solidFill>
              <a:latin typeface="Cooper BT Light" panose="020B0604020202020204" charset="0"/>
            </a:endParaRPr>
          </a:p>
          <a:p>
            <a:pPr marL="457200" indent="-457200" algn="just">
              <a:lnSpc>
                <a:spcPts val="4620"/>
              </a:lnSpc>
              <a:buFont typeface="Wingdings" panose="05000000000000000000" pitchFamily="2" charset="2"/>
              <a:buChar char="q"/>
            </a:pPr>
            <a:r>
              <a:rPr lang="id-ID" sz="2800" dirty="0">
                <a:solidFill>
                  <a:srgbClr val="9D4946"/>
                </a:solidFill>
                <a:latin typeface="Cooper BT Light" panose="020B0604020202020204" charset="0"/>
              </a:rPr>
              <a:t>Representasi Fitur Teks (TF-IDF / Bag-of-Words)</a:t>
            </a:r>
            <a:endParaRPr lang="en-US" sz="2800" dirty="0">
              <a:solidFill>
                <a:srgbClr val="9D4946"/>
              </a:solidFill>
              <a:latin typeface="Cooper BT Light" panose="020B0604020202020204" charset="0"/>
            </a:endParaRPr>
          </a:p>
          <a:p>
            <a:pPr marL="457200" indent="-457200" algn="just">
              <a:lnSpc>
                <a:spcPts val="4620"/>
              </a:lnSpc>
              <a:buFont typeface="Wingdings" panose="05000000000000000000" pitchFamily="2" charset="2"/>
              <a:buChar char="q"/>
            </a:pPr>
            <a:r>
              <a:rPr lang="id-ID" sz="2800" dirty="0">
                <a:solidFill>
                  <a:srgbClr val="9D4946"/>
                </a:solidFill>
                <a:latin typeface="Cooper BT Light" panose="020B0604020202020204" charset="0"/>
              </a:rPr>
              <a:t>Klasifikasi Naive Bayes</a:t>
            </a:r>
            <a:endParaRPr lang="en-US" sz="2800" dirty="0">
              <a:solidFill>
                <a:srgbClr val="9D4946"/>
              </a:solidFill>
              <a:latin typeface="Cooper BT Light" panose="020B0604020202020204" charset="0"/>
            </a:endParaRPr>
          </a:p>
          <a:p>
            <a:pPr marL="457200" indent="-457200" algn="just">
              <a:lnSpc>
                <a:spcPts val="4620"/>
              </a:lnSpc>
              <a:buFont typeface="Wingdings" panose="05000000000000000000" pitchFamily="2" charset="2"/>
              <a:buChar char="q"/>
            </a:pPr>
            <a:r>
              <a:rPr lang="id-ID" sz="2800" dirty="0">
                <a:solidFill>
                  <a:srgbClr val="9D4946"/>
                </a:solidFill>
                <a:latin typeface="Cooper BT Light" panose="020B0604020202020204" charset="0"/>
              </a:rPr>
              <a:t>Evaluasi Performa Model</a:t>
            </a:r>
            <a:endParaRPr lang="en-US" sz="2800" dirty="0">
              <a:solidFill>
                <a:srgbClr val="9D4946"/>
              </a:solidFill>
              <a:latin typeface="Cooper BT Light" panose="020B0604020202020204" charset="0"/>
              <a:ea typeface="Cooper BT Light"/>
              <a:cs typeface="Cooper BT Light"/>
              <a:sym typeface="Cooper B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grpSp>
        <p:nvGrpSpPr>
          <p:cNvPr id="15" name="Group 15"/>
          <p:cNvGrpSpPr/>
          <p:nvPr/>
        </p:nvGrpSpPr>
        <p:grpSpPr>
          <a:xfrm rot="-5400000">
            <a:off x="989423" y="4020118"/>
            <a:ext cx="1823987" cy="1487084"/>
            <a:chOff x="0" y="0"/>
            <a:chExt cx="498471" cy="406400"/>
          </a:xfrm>
        </p:grpSpPr>
        <p:sp>
          <p:nvSpPr>
            <p:cNvPr id="16" name="Freeform 16"/>
            <p:cNvSpPr/>
            <p:nvPr/>
          </p:nvSpPr>
          <p:spPr>
            <a:xfrm>
              <a:off x="0" y="0"/>
              <a:ext cx="498471" cy="406400"/>
            </a:xfrm>
            <a:custGeom>
              <a:avLst/>
              <a:gdLst/>
              <a:ahLst/>
              <a:cxnLst/>
              <a:rect l="l" t="t" r="r" b="b"/>
              <a:pathLst>
                <a:path w="498471" h="406400">
                  <a:moveTo>
                    <a:pt x="295271" y="0"/>
                  </a:moveTo>
                  <a:cubicBezTo>
                    <a:pt x="407495" y="0"/>
                    <a:pt x="498471" y="90976"/>
                    <a:pt x="498471" y="203200"/>
                  </a:cubicBezTo>
                  <a:cubicBezTo>
                    <a:pt x="498471" y="315424"/>
                    <a:pt x="407495" y="406400"/>
                    <a:pt x="29527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17" name="TextBox 17"/>
            <p:cNvSpPr txBox="1"/>
            <p:nvPr/>
          </p:nvSpPr>
          <p:spPr>
            <a:xfrm>
              <a:off x="0" y="-38100"/>
              <a:ext cx="498471" cy="444500"/>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5400000">
            <a:off x="989423" y="6482636"/>
            <a:ext cx="1823987" cy="1487084"/>
            <a:chOff x="0" y="0"/>
            <a:chExt cx="498471" cy="406400"/>
          </a:xfrm>
        </p:grpSpPr>
        <p:sp>
          <p:nvSpPr>
            <p:cNvPr id="19" name="Freeform 19"/>
            <p:cNvSpPr/>
            <p:nvPr/>
          </p:nvSpPr>
          <p:spPr>
            <a:xfrm>
              <a:off x="0" y="0"/>
              <a:ext cx="498471" cy="406400"/>
            </a:xfrm>
            <a:custGeom>
              <a:avLst/>
              <a:gdLst/>
              <a:ahLst/>
              <a:cxnLst/>
              <a:rect l="l" t="t" r="r" b="b"/>
              <a:pathLst>
                <a:path w="498471" h="406400">
                  <a:moveTo>
                    <a:pt x="295271" y="0"/>
                  </a:moveTo>
                  <a:cubicBezTo>
                    <a:pt x="407495" y="0"/>
                    <a:pt x="498471" y="90976"/>
                    <a:pt x="498471" y="203200"/>
                  </a:cubicBezTo>
                  <a:cubicBezTo>
                    <a:pt x="498471" y="315424"/>
                    <a:pt x="407495" y="406400"/>
                    <a:pt x="29527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0" name="TextBox 20"/>
            <p:cNvSpPr txBox="1"/>
            <p:nvPr/>
          </p:nvSpPr>
          <p:spPr>
            <a:xfrm>
              <a:off x="0" y="-38100"/>
              <a:ext cx="498471" cy="444500"/>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rot="-5400000">
            <a:off x="9113564" y="4020118"/>
            <a:ext cx="1823987" cy="1487084"/>
            <a:chOff x="0" y="0"/>
            <a:chExt cx="498471" cy="406400"/>
          </a:xfrm>
        </p:grpSpPr>
        <p:sp>
          <p:nvSpPr>
            <p:cNvPr id="22" name="Freeform 22"/>
            <p:cNvSpPr/>
            <p:nvPr/>
          </p:nvSpPr>
          <p:spPr>
            <a:xfrm>
              <a:off x="0" y="0"/>
              <a:ext cx="498471" cy="406400"/>
            </a:xfrm>
            <a:custGeom>
              <a:avLst/>
              <a:gdLst/>
              <a:ahLst/>
              <a:cxnLst/>
              <a:rect l="l" t="t" r="r" b="b"/>
              <a:pathLst>
                <a:path w="498471" h="406400">
                  <a:moveTo>
                    <a:pt x="295271" y="0"/>
                  </a:moveTo>
                  <a:cubicBezTo>
                    <a:pt x="407495" y="0"/>
                    <a:pt x="498471" y="90976"/>
                    <a:pt x="498471" y="203200"/>
                  </a:cubicBezTo>
                  <a:cubicBezTo>
                    <a:pt x="498471" y="315424"/>
                    <a:pt x="407495" y="406400"/>
                    <a:pt x="29527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3" name="TextBox 23"/>
            <p:cNvSpPr txBox="1"/>
            <p:nvPr/>
          </p:nvSpPr>
          <p:spPr>
            <a:xfrm>
              <a:off x="0" y="-38100"/>
              <a:ext cx="498471" cy="444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rot="-5400000">
            <a:off x="9113564" y="6482636"/>
            <a:ext cx="1823987" cy="1487084"/>
            <a:chOff x="0" y="0"/>
            <a:chExt cx="498471" cy="406400"/>
          </a:xfrm>
        </p:grpSpPr>
        <p:sp>
          <p:nvSpPr>
            <p:cNvPr id="25" name="Freeform 25"/>
            <p:cNvSpPr/>
            <p:nvPr/>
          </p:nvSpPr>
          <p:spPr>
            <a:xfrm>
              <a:off x="0" y="0"/>
              <a:ext cx="498471" cy="406400"/>
            </a:xfrm>
            <a:custGeom>
              <a:avLst/>
              <a:gdLst/>
              <a:ahLst/>
              <a:cxnLst/>
              <a:rect l="l" t="t" r="r" b="b"/>
              <a:pathLst>
                <a:path w="498471" h="406400">
                  <a:moveTo>
                    <a:pt x="295271" y="0"/>
                  </a:moveTo>
                  <a:cubicBezTo>
                    <a:pt x="407495" y="0"/>
                    <a:pt x="498471" y="90976"/>
                    <a:pt x="498471" y="203200"/>
                  </a:cubicBezTo>
                  <a:cubicBezTo>
                    <a:pt x="498471" y="315424"/>
                    <a:pt x="407495" y="406400"/>
                    <a:pt x="29527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26" name="TextBox 26"/>
            <p:cNvSpPr txBox="1"/>
            <p:nvPr/>
          </p:nvSpPr>
          <p:spPr>
            <a:xfrm>
              <a:off x="0" y="-38100"/>
              <a:ext cx="498471" cy="444500"/>
            </a:xfrm>
            <a:prstGeom prst="rect">
              <a:avLst/>
            </a:prstGeom>
          </p:spPr>
          <p:txBody>
            <a:bodyPr lIns="50800" tIns="50800" rIns="50800" bIns="50800" rtlCol="0" anchor="ctr"/>
            <a:lstStyle/>
            <a:p>
              <a:pPr algn="ctr">
                <a:lnSpc>
                  <a:spcPts val="2659"/>
                </a:lnSpc>
              </a:pPr>
              <a:endParaRPr/>
            </a:p>
          </p:txBody>
        </p:sp>
      </p:grpSp>
      <p:sp>
        <p:nvSpPr>
          <p:cNvPr id="27" name="Freeform 27"/>
          <p:cNvSpPr/>
          <p:nvPr/>
        </p:nvSpPr>
        <p:spPr>
          <a:xfrm>
            <a:off x="1526609" y="6707732"/>
            <a:ext cx="749616" cy="986336"/>
          </a:xfrm>
          <a:custGeom>
            <a:avLst/>
            <a:gdLst/>
            <a:ahLst/>
            <a:cxnLst/>
            <a:rect l="l" t="t" r="r" b="b"/>
            <a:pathLst>
              <a:path w="749616" h="986336">
                <a:moveTo>
                  <a:pt x="0" y="0"/>
                </a:moveTo>
                <a:lnTo>
                  <a:pt x="749615" y="0"/>
                </a:lnTo>
                <a:lnTo>
                  <a:pt x="749615" y="986336"/>
                </a:lnTo>
                <a:lnTo>
                  <a:pt x="0" y="98633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8" name="Freeform 28"/>
          <p:cNvSpPr/>
          <p:nvPr/>
        </p:nvSpPr>
        <p:spPr>
          <a:xfrm>
            <a:off x="1424742" y="4227523"/>
            <a:ext cx="953348" cy="1072273"/>
          </a:xfrm>
          <a:custGeom>
            <a:avLst/>
            <a:gdLst/>
            <a:ahLst/>
            <a:cxnLst/>
            <a:rect l="l" t="t" r="r" b="b"/>
            <a:pathLst>
              <a:path w="953348" h="1072273">
                <a:moveTo>
                  <a:pt x="0" y="0"/>
                </a:moveTo>
                <a:lnTo>
                  <a:pt x="953349" y="0"/>
                </a:lnTo>
                <a:lnTo>
                  <a:pt x="953349" y="1072274"/>
                </a:lnTo>
                <a:lnTo>
                  <a:pt x="0" y="107227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9" name="Freeform 29"/>
          <p:cNvSpPr/>
          <p:nvPr/>
        </p:nvSpPr>
        <p:spPr>
          <a:xfrm>
            <a:off x="9495588" y="4247181"/>
            <a:ext cx="1059939" cy="1032959"/>
          </a:xfrm>
          <a:custGeom>
            <a:avLst/>
            <a:gdLst/>
            <a:ahLst/>
            <a:cxnLst/>
            <a:rect l="l" t="t" r="r" b="b"/>
            <a:pathLst>
              <a:path w="1059939" h="1032959">
                <a:moveTo>
                  <a:pt x="0" y="0"/>
                </a:moveTo>
                <a:lnTo>
                  <a:pt x="1059939" y="0"/>
                </a:lnTo>
                <a:lnTo>
                  <a:pt x="1059939" y="1032958"/>
                </a:lnTo>
                <a:lnTo>
                  <a:pt x="0" y="103295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0" name="Freeform 30"/>
          <p:cNvSpPr/>
          <p:nvPr/>
        </p:nvSpPr>
        <p:spPr>
          <a:xfrm>
            <a:off x="9584706" y="6652966"/>
            <a:ext cx="881705" cy="1146424"/>
          </a:xfrm>
          <a:custGeom>
            <a:avLst/>
            <a:gdLst/>
            <a:ahLst/>
            <a:cxnLst/>
            <a:rect l="l" t="t" r="r" b="b"/>
            <a:pathLst>
              <a:path w="881705" h="1146424">
                <a:moveTo>
                  <a:pt x="0" y="0"/>
                </a:moveTo>
                <a:lnTo>
                  <a:pt x="881704" y="0"/>
                </a:lnTo>
                <a:lnTo>
                  <a:pt x="881704" y="1146424"/>
                </a:lnTo>
                <a:lnTo>
                  <a:pt x="0" y="114642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1" name="TextBox 31"/>
          <p:cNvSpPr txBox="1"/>
          <p:nvPr/>
        </p:nvSpPr>
        <p:spPr>
          <a:xfrm>
            <a:off x="15956222" y="9453768"/>
            <a:ext cx="1157963" cy="597536"/>
          </a:xfrm>
          <a:prstGeom prst="rect">
            <a:avLst/>
          </a:prstGeom>
        </p:spPr>
        <p:txBody>
          <a:bodyPr lIns="0" tIns="0" rIns="0" bIns="0" rtlCol="0" anchor="t">
            <a:spAutoFit/>
          </a:bodyPr>
          <a:lstStyle/>
          <a:p>
            <a:pPr algn="ctr">
              <a:lnSpc>
                <a:spcPts val="5039"/>
              </a:lnSpc>
            </a:pPr>
            <a:r>
              <a:rPr lang="en-US" sz="3599" i="1" dirty="0">
                <a:solidFill>
                  <a:srgbClr val="861A1A"/>
                </a:solidFill>
                <a:latin typeface="Cooper BT Light Italics"/>
                <a:ea typeface="Cooper BT Light Italics"/>
                <a:cs typeface="Cooper BT Light Italics"/>
                <a:sym typeface="Cooper BT Light Italics"/>
              </a:rPr>
              <a:t>06</a:t>
            </a:r>
          </a:p>
        </p:txBody>
      </p:sp>
      <p:sp>
        <p:nvSpPr>
          <p:cNvPr id="32" name="TextBox 32"/>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33" name="TextBox 33"/>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34" name="TextBox 34"/>
          <p:cNvSpPr txBox="1"/>
          <p:nvPr/>
        </p:nvSpPr>
        <p:spPr>
          <a:xfrm>
            <a:off x="4978962" y="1914917"/>
            <a:ext cx="8330076" cy="1184275"/>
          </a:xfrm>
          <a:prstGeom prst="rect">
            <a:avLst/>
          </a:prstGeom>
        </p:spPr>
        <p:txBody>
          <a:bodyPr lIns="0" tIns="0" rIns="0" bIns="0" rtlCol="0" anchor="t">
            <a:spAutoFit/>
          </a:bodyPr>
          <a:lstStyle/>
          <a:p>
            <a:pPr algn="ctr">
              <a:lnSpc>
                <a:spcPts val="9799"/>
              </a:lnSpc>
            </a:pPr>
            <a:r>
              <a:rPr lang="en-US" sz="6999" dirty="0">
                <a:solidFill>
                  <a:srgbClr val="861A1A"/>
                </a:solidFill>
                <a:latin typeface="Cooper BT Light"/>
                <a:ea typeface="Cooper BT Light"/>
                <a:cs typeface="Cooper BT Light"/>
                <a:sym typeface="Cooper BT Light"/>
              </a:rPr>
              <a:t>Dataset </a:t>
            </a:r>
            <a:r>
              <a:rPr lang="en-US" sz="6999" dirty="0" err="1">
                <a:solidFill>
                  <a:srgbClr val="861A1A"/>
                </a:solidFill>
                <a:latin typeface="Cooper BT Light"/>
                <a:ea typeface="Cooper BT Light"/>
                <a:cs typeface="Cooper BT Light"/>
                <a:sym typeface="Cooper BT Light"/>
              </a:rPr>
              <a:t>Penelitian</a:t>
            </a:r>
            <a:endParaRPr lang="en-US" sz="6999" dirty="0">
              <a:solidFill>
                <a:srgbClr val="861A1A"/>
              </a:solidFill>
              <a:latin typeface="Cooper BT Light"/>
              <a:ea typeface="Cooper BT Light"/>
              <a:cs typeface="Cooper BT Light"/>
              <a:sym typeface="Cooper BT Light"/>
            </a:endParaRPr>
          </a:p>
        </p:txBody>
      </p:sp>
      <p:sp>
        <p:nvSpPr>
          <p:cNvPr id="35" name="TextBox 35"/>
          <p:cNvSpPr txBox="1"/>
          <p:nvPr/>
        </p:nvSpPr>
        <p:spPr>
          <a:xfrm>
            <a:off x="2930156" y="3838947"/>
            <a:ext cx="3296380" cy="610295"/>
          </a:xfrm>
          <a:prstGeom prst="rect">
            <a:avLst/>
          </a:prstGeom>
        </p:spPr>
        <p:txBody>
          <a:bodyPr lIns="0" tIns="0" rIns="0" bIns="0" rtlCol="0" anchor="t">
            <a:spAutoFit/>
          </a:bodyPr>
          <a:lstStyle/>
          <a:p>
            <a:pPr algn="l">
              <a:lnSpc>
                <a:spcPts val="5180"/>
              </a:lnSpc>
            </a:pPr>
            <a:r>
              <a:rPr lang="en-US" sz="3700" b="1" dirty="0" err="1">
                <a:solidFill>
                  <a:srgbClr val="861A1A"/>
                </a:solidFill>
                <a:latin typeface="Cooper BT Bold"/>
                <a:ea typeface="Cooper BT Bold"/>
                <a:cs typeface="Cooper BT Bold"/>
                <a:sym typeface="Cooper BT Bold"/>
              </a:rPr>
              <a:t>Sumber</a:t>
            </a:r>
            <a:endParaRPr lang="en-US" sz="3700" b="1" dirty="0">
              <a:solidFill>
                <a:srgbClr val="861A1A"/>
              </a:solidFill>
              <a:latin typeface="Cooper BT Bold"/>
              <a:ea typeface="Cooper BT Bold"/>
              <a:cs typeface="Cooper BT Bold"/>
              <a:sym typeface="Cooper BT Bold"/>
            </a:endParaRPr>
          </a:p>
        </p:txBody>
      </p:sp>
      <p:sp>
        <p:nvSpPr>
          <p:cNvPr id="36" name="TextBox 36"/>
          <p:cNvSpPr txBox="1"/>
          <p:nvPr/>
        </p:nvSpPr>
        <p:spPr>
          <a:xfrm>
            <a:off x="2930156" y="4521878"/>
            <a:ext cx="5604244" cy="1033296"/>
          </a:xfrm>
          <a:prstGeom prst="rect">
            <a:avLst/>
          </a:prstGeom>
        </p:spPr>
        <p:txBody>
          <a:bodyPr wrap="square" lIns="0" tIns="0" rIns="0" bIns="0" rtlCol="0" anchor="t">
            <a:spAutoFit/>
          </a:bodyPr>
          <a:lstStyle/>
          <a:p>
            <a:pPr algn="l">
              <a:lnSpc>
                <a:spcPts val="4200"/>
              </a:lnSpc>
            </a:pPr>
            <a:r>
              <a:rPr lang="en-US" sz="3000" dirty="0">
                <a:solidFill>
                  <a:srgbClr val="861A1A"/>
                </a:solidFill>
                <a:latin typeface="Cooper BT Light"/>
                <a:ea typeface="Cooper BT Light"/>
                <a:cs typeface="Cooper BT Light"/>
                <a:sym typeface="Cooper BT Light"/>
              </a:rPr>
              <a:t>Tokopedia Product Reviews 2019 ( Hugging Face)</a:t>
            </a:r>
          </a:p>
        </p:txBody>
      </p:sp>
      <p:sp>
        <p:nvSpPr>
          <p:cNvPr id="37" name="TextBox 37"/>
          <p:cNvSpPr txBox="1"/>
          <p:nvPr/>
        </p:nvSpPr>
        <p:spPr>
          <a:xfrm>
            <a:off x="2930156" y="6301465"/>
            <a:ext cx="3296380" cy="610295"/>
          </a:xfrm>
          <a:prstGeom prst="rect">
            <a:avLst/>
          </a:prstGeom>
        </p:spPr>
        <p:txBody>
          <a:bodyPr lIns="0" tIns="0" rIns="0" bIns="0" rtlCol="0" anchor="t">
            <a:spAutoFit/>
          </a:bodyPr>
          <a:lstStyle/>
          <a:p>
            <a:pPr algn="l">
              <a:lnSpc>
                <a:spcPts val="5180"/>
              </a:lnSpc>
            </a:pPr>
            <a:r>
              <a:rPr lang="en-US" sz="3700" b="1" dirty="0">
                <a:solidFill>
                  <a:srgbClr val="861A1A"/>
                </a:solidFill>
                <a:latin typeface="Cooper BT Bold"/>
                <a:ea typeface="Cooper BT Bold"/>
                <a:cs typeface="Cooper BT Bold"/>
                <a:sym typeface="Cooper BT Bold"/>
              </a:rPr>
              <a:t>Data </a:t>
            </a:r>
            <a:r>
              <a:rPr lang="en-US" sz="3700" b="1" dirty="0" err="1">
                <a:solidFill>
                  <a:srgbClr val="861A1A"/>
                </a:solidFill>
                <a:latin typeface="Cooper BT Bold"/>
                <a:ea typeface="Cooper BT Bold"/>
                <a:cs typeface="Cooper BT Bold"/>
                <a:sym typeface="Cooper BT Bold"/>
              </a:rPr>
              <a:t>awal</a:t>
            </a:r>
            <a:endParaRPr lang="en-US" sz="3700" b="1" dirty="0">
              <a:solidFill>
                <a:srgbClr val="861A1A"/>
              </a:solidFill>
              <a:latin typeface="Cooper BT Bold"/>
              <a:ea typeface="Cooper BT Bold"/>
              <a:cs typeface="Cooper BT Bold"/>
              <a:sym typeface="Cooper BT Bold"/>
            </a:endParaRPr>
          </a:p>
        </p:txBody>
      </p:sp>
      <p:sp>
        <p:nvSpPr>
          <p:cNvPr id="38" name="TextBox 38"/>
          <p:cNvSpPr txBox="1"/>
          <p:nvPr/>
        </p:nvSpPr>
        <p:spPr>
          <a:xfrm>
            <a:off x="2930156" y="6984396"/>
            <a:ext cx="6066110" cy="494687"/>
          </a:xfrm>
          <a:prstGeom prst="rect">
            <a:avLst/>
          </a:prstGeom>
        </p:spPr>
        <p:txBody>
          <a:bodyPr lIns="0" tIns="0" rIns="0" bIns="0" rtlCol="0" anchor="t">
            <a:spAutoFit/>
          </a:bodyPr>
          <a:lstStyle/>
          <a:p>
            <a:pPr algn="l">
              <a:lnSpc>
                <a:spcPts val="4200"/>
              </a:lnSpc>
            </a:pPr>
            <a:r>
              <a:rPr lang="en-US" sz="3000" dirty="0">
                <a:solidFill>
                  <a:srgbClr val="861A1A"/>
                </a:solidFill>
                <a:latin typeface="Cooper BT Light"/>
                <a:ea typeface="Cooper BT Light"/>
                <a:cs typeface="Cooper BT Light"/>
                <a:sym typeface="Cooper BT Light"/>
              </a:rPr>
              <a:t>40.000 </a:t>
            </a:r>
            <a:r>
              <a:rPr lang="en-US" sz="3000" dirty="0" err="1">
                <a:solidFill>
                  <a:srgbClr val="861A1A"/>
                </a:solidFill>
                <a:latin typeface="Cooper BT Light"/>
                <a:ea typeface="Cooper BT Light"/>
                <a:cs typeface="Cooper BT Light"/>
                <a:sym typeface="Cooper BT Light"/>
              </a:rPr>
              <a:t>ulasan</a:t>
            </a:r>
            <a:endParaRPr lang="en-US" sz="3000" dirty="0">
              <a:solidFill>
                <a:srgbClr val="861A1A"/>
              </a:solidFill>
              <a:latin typeface="Cooper BT Light"/>
              <a:ea typeface="Cooper BT Light"/>
              <a:cs typeface="Cooper BT Light"/>
              <a:sym typeface="Cooper BT Light"/>
            </a:endParaRPr>
          </a:p>
        </p:txBody>
      </p:sp>
      <p:sp>
        <p:nvSpPr>
          <p:cNvPr id="39" name="TextBox 39"/>
          <p:cNvSpPr txBox="1"/>
          <p:nvPr/>
        </p:nvSpPr>
        <p:spPr>
          <a:xfrm>
            <a:off x="11054296" y="3838947"/>
            <a:ext cx="4303547" cy="610295"/>
          </a:xfrm>
          <a:prstGeom prst="rect">
            <a:avLst/>
          </a:prstGeom>
        </p:spPr>
        <p:txBody>
          <a:bodyPr wrap="square" lIns="0" tIns="0" rIns="0" bIns="0" rtlCol="0" anchor="t">
            <a:spAutoFit/>
          </a:bodyPr>
          <a:lstStyle/>
          <a:p>
            <a:pPr algn="l">
              <a:lnSpc>
                <a:spcPts val="5180"/>
              </a:lnSpc>
            </a:pPr>
            <a:r>
              <a:rPr lang="en-US" sz="3700" b="1" dirty="0">
                <a:solidFill>
                  <a:srgbClr val="861A1A"/>
                </a:solidFill>
                <a:latin typeface="Cooper BT Bold"/>
                <a:ea typeface="Cooper BT Bold"/>
                <a:cs typeface="Cooper BT Bold"/>
                <a:sym typeface="Cooper BT Bold"/>
              </a:rPr>
              <a:t>Teknik sampling</a:t>
            </a:r>
          </a:p>
        </p:txBody>
      </p:sp>
      <p:sp>
        <p:nvSpPr>
          <p:cNvPr id="40" name="TextBox 40"/>
          <p:cNvSpPr txBox="1"/>
          <p:nvPr/>
        </p:nvSpPr>
        <p:spPr>
          <a:xfrm>
            <a:off x="11054297" y="4521878"/>
            <a:ext cx="6066110" cy="494687"/>
          </a:xfrm>
          <a:prstGeom prst="rect">
            <a:avLst/>
          </a:prstGeom>
        </p:spPr>
        <p:txBody>
          <a:bodyPr lIns="0" tIns="0" rIns="0" bIns="0" rtlCol="0" anchor="t">
            <a:spAutoFit/>
          </a:bodyPr>
          <a:lstStyle/>
          <a:p>
            <a:pPr algn="l">
              <a:lnSpc>
                <a:spcPts val="4200"/>
              </a:lnSpc>
            </a:pPr>
            <a:r>
              <a:rPr lang="en-US" sz="3000" dirty="0">
                <a:solidFill>
                  <a:srgbClr val="861A1A"/>
                </a:solidFill>
                <a:latin typeface="Cooper BT Light"/>
                <a:ea typeface="Cooper BT Light"/>
                <a:cs typeface="Cooper BT Light"/>
                <a:sym typeface="Cooper BT Light"/>
              </a:rPr>
              <a:t>Random Sampling</a:t>
            </a:r>
          </a:p>
        </p:txBody>
      </p:sp>
      <p:sp>
        <p:nvSpPr>
          <p:cNvPr id="41" name="TextBox 41"/>
          <p:cNvSpPr txBox="1"/>
          <p:nvPr/>
        </p:nvSpPr>
        <p:spPr>
          <a:xfrm>
            <a:off x="11054296" y="6301465"/>
            <a:ext cx="4033303" cy="610295"/>
          </a:xfrm>
          <a:prstGeom prst="rect">
            <a:avLst/>
          </a:prstGeom>
        </p:spPr>
        <p:txBody>
          <a:bodyPr wrap="square" lIns="0" tIns="0" rIns="0" bIns="0" rtlCol="0" anchor="t">
            <a:spAutoFit/>
          </a:bodyPr>
          <a:lstStyle/>
          <a:p>
            <a:pPr algn="l">
              <a:lnSpc>
                <a:spcPts val="5180"/>
              </a:lnSpc>
            </a:pPr>
            <a:r>
              <a:rPr lang="en-US" sz="3700" b="1" dirty="0">
                <a:solidFill>
                  <a:srgbClr val="861A1A"/>
                </a:solidFill>
                <a:latin typeface="Cooper BT Bold"/>
                <a:ea typeface="Cooper BT Bold"/>
                <a:cs typeface="Cooper BT Bold"/>
                <a:sym typeface="Cooper BT Bold"/>
              </a:rPr>
              <a:t>Data </a:t>
            </a:r>
            <a:r>
              <a:rPr lang="en-US" sz="3700" b="1" dirty="0" err="1">
                <a:solidFill>
                  <a:srgbClr val="861A1A"/>
                </a:solidFill>
                <a:latin typeface="Cooper BT Bold"/>
                <a:ea typeface="Cooper BT Bold"/>
                <a:cs typeface="Cooper BT Bold"/>
                <a:sym typeface="Cooper BT Bold"/>
              </a:rPr>
              <a:t>Digunakan</a:t>
            </a:r>
            <a:endParaRPr lang="en-US" sz="3700" b="1" dirty="0">
              <a:solidFill>
                <a:srgbClr val="861A1A"/>
              </a:solidFill>
              <a:latin typeface="Cooper BT Bold"/>
              <a:ea typeface="Cooper BT Bold"/>
              <a:cs typeface="Cooper BT Bold"/>
              <a:sym typeface="Cooper BT Bold"/>
            </a:endParaRPr>
          </a:p>
        </p:txBody>
      </p:sp>
      <p:sp>
        <p:nvSpPr>
          <p:cNvPr id="42" name="TextBox 42"/>
          <p:cNvSpPr txBox="1"/>
          <p:nvPr/>
        </p:nvSpPr>
        <p:spPr>
          <a:xfrm>
            <a:off x="11054297" y="6984396"/>
            <a:ext cx="6066110" cy="494687"/>
          </a:xfrm>
          <a:prstGeom prst="rect">
            <a:avLst/>
          </a:prstGeom>
        </p:spPr>
        <p:txBody>
          <a:bodyPr lIns="0" tIns="0" rIns="0" bIns="0" rtlCol="0" anchor="t">
            <a:spAutoFit/>
          </a:bodyPr>
          <a:lstStyle/>
          <a:p>
            <a:pPr algn="l">
              <a:lnSpc>
                <a:spcPts val="4200"/>
              </a:lnSpc>
            </a:pPr>
            <a:r>
              <a:rPr lang="en-US" sz="3000" dirty="0">
                <a:solidFill>
                  <a:srgbClr val="861A1A"/>
                </a:solidFill>
                <a:latin typeface="Cooper BT Light"/>
                <a:ea typeface="Cooper BT Light"/>
                <a:cs typeface="Cooper BT Light"/>
                <a:sym typeface="Cooper BT Light"/>
              </a:rPr>
              <a:t>700 </a:t>
            </a:r>
            <a:r>
              <a:rPr lang="en-US" sz="3000" dirty="0" err="1">
                <a:solidFill>
                  <a:srgbClr val="861A1A"/>
                </a:solidFill>
                <a:latin typeface="Cooper BT Light"/>
                <a:ea typeface="Cooper BT Light"/>
                <a:cs typeface="Cooper BT Light"/>
                <a:sym typeface="Cooper BT Light"/>
              </a:rPr>
              <a:t>ulasan</a:t>
            </a:r>
            <a:endParaRPr lang="en-US" sz="3000" dirty="0">
              <a:solidFill>
                <a:srgbClr val="861A1A"/>
              </a:solidFill>
              <a:latin typeface="Cooper BT Light"/>
              <a:ea typeface="Cooper BT Light"/>
              <a:cs typeface="Cooper BT Light"/>
              <a:sym typeface="Cooper BT Ligh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grpSp>
        <p:nvGrpSpPr>
          <p:cNvPr id="15" name="Group 15"/>
          <p:cNvGrpSpPr/>
          <p:nvPr/>
        </p:nvGrpSpPr>
        <p:grpSpPr>
          <a:xfrm rot="-5400000">
            <a:off x="1498804" y="3342141"/>
            <a:ext cx="2927086" cy="2809232"/>
            <a:chOff x="0" y="0"/>
            <a:chExt cx="526781" cy="406400"/>
          </a:xfrm>
        </p:grpSpPr>
        <p:sp>
          <p:nvSpPr>
            <p:cNvPr id="16" name="Freeform 16"/>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17" name="TextBox 17"/>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5" name="TextBox 25"/>
          <p:cNvSpPr txBox="1"/>
          <p:nvPr/>
        </p:nvSpPr>
        <p:spPr>
          <a:xfrm>
            <a:off x="15956222" y="9453768"/>
            <a:ext cx="1157963" cy="597536"/>
          </a:xfrm>
          <a:prstGeom prst="rect">
            <a:avLst/>
          </a:prstGeom>
        </p:spPr>
        <p:txBody>
          <a:bodyPr lIns="0" tIns="0" rIns="0" bIns="0" rtlCol="0" anchor="t">
            <a:spAutoFit/>
          </a:bodyPr>
          <a:lstStyle/>
          <a:p>
            <a:pPr marL="0" marR="0" lvl="0" indent="0" algn="ctr" defTabSz="914400" rtl="0" eaLnBrk="1" fontAlgn="auto" latinLnBrk="0" hangingPunct="1">
              <a:lnSpc>
                <a:spcPts val="5039"/>
              </a:lnSpc>
              <a:spcBef>
                <a:spcPts val="0"/>
              </a:spcBef>
              <a:spcAft>
                <a:spcPts val="0"/>
              </a:spcAft>
              <a:buClrTx/>
              <a:buSzTx/>
              <a:buFontTx/>
              <a:buNone/>
              <a:tabLst/>
              <a:defRPr/>
            </a:pPr>
            <a:r>
              <a:rPr kumimoji="0" lang="en-US" sz="3599" b="0" i="1" u="none" strike="noStrike" kern="1200" cap="none" spc="0" normalizeH="0" baseline="0" noProof="0" dirty="0">
                <a:ln>
                  <a:noFill/>
                </a:ln>
                <a:solidFill>
                  <a:srgbClr val="861A1A"/>
                </a:solidFill>
                <a:effectLst/>
                <a:uLnTx/>
                <a:uFillTx/>
                <a:latin typeface="Cooper BT Light Italics"/>
                <a:ea typeface="Cooper BT Light Italics"/>
                <a:cs typeface="Cooper BT Light Italics"/>
                <a:sym typeface="Cooper BT Light Italics"/>
              </a:rPr>
              <a:t>07</a:t>
            </a:r>
          </a:p>
        </p:txBody>
      </p:sp>
      <p:sp>
        <p:nvSpPr>
          <p:cNvPr id="26" name="TextBox 2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27" name="TextBox 2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28" name="TextBox 28"/>
          <p:cNvSpPr txBox="1"/>
          <p:nvPr/>
        </p:nvSpPr>
        <p:spPr>
          <a:xfrm>
            <a:off x="4901804" y="1619699"/>
            <a:ext cx="8484392" cy="1184275"/>
          </a:xfrm>
          <a:prstGeom prst="rect">
            <a:avLst/>
          </a:prstGeom>
        </p:spPr>
        <p:txBody>
          <a:bodyPr lIns="0" tIns="0" rIns="0" bIns="0" rtlCol="0" anchor="t">
            <a:spAutoFit/>
          </a:bodyPr>
          <a:lstStyle/>
          <a:p>
            <a:pPr marL="0" marR="0" lvl="0" indent="0" algn="ctr" defTabSz="914400" rtl="0" eaLnBrk="1" fontAlgn="auto" latinLnBrk="0" hangingPunct="1">
              <a:lnSpc>
                <a:spcPts val="9799"/>
              </a:lnSpc>
              <a:spcBef>
                <a:spcPts val="0"/>
              </a:spcBef>
              <a:spcAft>
                <a:spcPts val="0"/>
              </a:spcAft>
              <a:buClrTx/>
              <a:buSzTx/>
              <a:buFontTx/>
              <a:buNone/>
              <a:tabLst/>
              <a:defRPr/>
            </a:pPr>
            <a:r>
              <a:rPr lang="en-US" sz="6999" dirty="0" err="1">
                <a:solidFill>
                  <a:srgbClr val="861A1A"/>
                </a:solidFill>
                <a:latin typeface="Cooper BT Light"/>
                <a:ea typeface="Cooper BT Light"/>
                <a:cs typeface="Cooper BT Light"/>
                <a:sym typeface="Cooper BT Light"/>
              </a:rPr>
              <a:t>Variabel</a:t>
            </a:r>
            <a:r>
              <a:rPr kumimoji="0" lang="en-US" sz="6999" b="0" i="0" u="none" strike="noStrike" kern="1200" cap="none" spc="0" normalizeH="0" baseline="0" noProof="0" dirty="0">
                <a:ln>
                  <a:noFill/>
                </a:ln>
                <a:solidFill>
                  <a:srgbClr val="861A1A"/>
                </a:solidFill>
                <a:effectLst/>
                <a:uLnTx/>
                <a:uFillTx/>
                <a:latin typeface="Cooper BT Light"/>
                <a:ea typeface="Cooper BT Light"/>
                <a:cs typeface="Cooper BT Light"/>
                <a:sym typeface="Cooper BT Light"/>
              </a:rPr>
              <a:t> </a:t>
            </a:r>
            <a:r>
              <a:rPr kumimoji="0" lang="en-US" sz="6999" b="0" i="0" u="none" strike="noStrike" kern="1200" cap="none" spc="0" normalizeH="0" baseline="0" noProof="0" dirty="0" err="1">
                <a:ln>
                  <a:noFill/>
                </a:ln>
                <a:solidFill>
                  <a:srgbClr val="861A1A"/>
                </a:solidFill>
                <a:effectLst/>
                <a:uLnTx/>
                <a:uFillTx/>
                <a:latin typeface="Cooper BT Light"/>
                <a:ea typeface="Cooper BT Light"/>
                <a:cs typeface="Cooper BT Light"/>
                <a:sym typeface="Cooper BT Light"/>
              </a:rPr>
              <a:t>Penelitian</a:t>
            </a:r>
            <a:endParaRPr kumimoji="0" lang="en-US" sz="6999" b="0" i="0" u="none" strike="noStrike" kern="1200" cap="none" spc="0" normalizeH="0" baseline="0" noProof="0" dirty="0">
              <a:ln>
                <a:noFill/>
              </a:ln>
              <a:solidFill>
                <a:srgbClr val="861A1A"/>
              </a:solidFill>
              <a:effectLst/>
              <a:uLnTx/>
              <a:uFillTx/>
              <a:latin typeface="Cooper BT Light"/>
              <a:ea typeface="Cooper BT Light"/>
              <a:cs typeface="Cooper BT Light"/>
              <a:sym typeface="Cooper BT Light"/>
            </a:endParaRPr>
          </a:p>
        </p:txBody>
      </p:sp>
      <p:sp>
        <p:nvSpPr>
          <p:cNvPr id="31" name="TextBox 31"/>
          <p:cNvSpPr txBox="1"/>
          <p:nvPr/>
        </p:nvSpPr>
        <p:spPr>
          <a:xfrm>
            <a:off x="976393" y="2787471"/>
            <a:ext cx="1710860" cy="721996"/>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01.</a:t>
            </a:r>
          </a:p>
        </p:txBody>
      </p:sp>
      <p:sp>
        <p:nvSpPr>
          <p:cNvPr id="37" name="TextBox 37"/>
          <p:cNvSpPr txBox="1"/>
          <p:nvPr/>
        </p:nvSpPr>
        <p:spPr>
          <a:xfrm>
            <a:off x="1905000" y="4305300"/>
            <a:ext cx="2091860" cy="870175"/>
          </a:xfrm>
          <a:prstGeom prst="rect">
            <a:avLst/>
          </a:prstGeom>
        </p:spPr>
        <p:txBody>
          <a:bodyPr wrap="square" lIns="0" tIns="0" rIns="0" bIns="0" rtlCol="0" anchor="t">
            <a:spAutoFit/>
          </a:bodyPr>
          <a:lstStyle/>
          <a:p>
            <a:pPr marL="0" marR="0" lvl="0" indent="0" algn="ctr" defTabSz="914400" rtl="0" eaLnBrk="1" fontAlgn="auto" latinLnBrk="0" hangingPunct="1">
              <a:lnSpc>
                <a:spcPts val="3499"/>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ooper BT Light" panose="020B0604020202020204" charset="0"/>
                <a:ea typeface="+mn-ea"/>
                <a:cs typeface="+mn-cs"/>
              </a:rPr>
              <a:t>Review text (</a:t>
            </a:r>
            <a:r>
              <a:rPr kumimoji="0" lang="en-US" sz="2800" b="0" i="0" u="none" strike="noStrike" kern="1200" cap="none" spc="0" normalizeH="0" baseline="0" noProof="0" dirty="0" err="1">
                <a:ln>
                  <a:noFill/>
                </a:ln>
                <a:solidFill>
                  <a:prstClr val="white"/>
                </a:solidFill>
                <a:effectLst/>
                <a:uLnTx/>
                <a:uFillTx/>
                <a:latin typeface="Cooper BT Light" panose="020B0604020202020204" charset="0"/>
                <a:ea typeface="+mn-ea"/>
                <a:cs typeface="+mn-cs"/>
              </a:rPr>
              <a:t>teks</a:t>
            </a:r>
            <a:r>
              <a:rPr kumimoji="0" lang="en-US" sz="2800" b="0" i="0" u="none" strike="noStrike" kern="1200" cap="none" spc="0" normalizeH="0" baseline="0" noProof="0" dirty="0">
                <a:ln>
                  <a:noFill/>
                </a:ln>
                <a:solidFill>
                  <a:prstClr val="white"/>
                </a:solidFill>
                <a:effectLst/>
                <a:uLnTx/>
                <a:uFillTx/>
                <a:latin typeface="Cooper BT Light" panose="020B0604020202020204" charset="0"/>
                <a:ea typeface="+mn-ea"/>
                <a:cs typeface="+mn-cs"/>
              </a:rPr>
              <a:t> </a:t>
            </a:r>
            <a:r>
              <a:rPr kumimoji="0" lang="en-US" sz="2800" b="0" i="0" u="none" strike="noStrike" kern="1200" cap="none" spc="0" normalizeH="0" baseline="0" noProof="0" dirty="0" err="1">
                <a:ln>
                  <a:noFill/>
                </a:ln>
                <a:solidFill>
                  <a:prstClr val="white"/>
                </a:solidFill>
                <a:effectLst/>
                <a:uLnTx/>
                <a:uFillTx/>
                <a:latin typeface="Cooper BT Light" panose="020B0604020202020204" charset="0"/>
                <a:ea typeface="+mn-ea"/>
                <a:cs typeface="+mn-cs"/>
              </a:rPr>
              <a:t>ulasan</a:t>
            </a:r>
            <a:r>
              <a:rPr kumimoji="0" lang="en-US" sz="2800" b="0" i="0" u="none" strike="noStrike" kern="1200" cap="none" spc="0" normalizeH="0" baseline="0" noProof="0" dirty="0">
                <a:ln>
                  <a:noFill/>
                </a:ln>
                <a:solidFill>
                  <a:prstClr val="white"/>
                </a:solidFill>
                <a:effectLst/>
                <a:uLnTx/>
                <a:uFillTx/>
                <a:latin typeface="Cooper BT Light" panose="020B0604020202020204" charset="0"/>
                <a:ea typeface="+mn-ea"/>
                <a:cs typeface="+mn-cs"/>
              </a:rPr>
              <a:t>)</a:t>
            </a:r>
            <a:endParaRPr kumimoji="0" lang="en-US" sz="2499" b="0" i="0" u="none" strike="noStrike" kern="1200" cap="none" spc="0" normalizeH="0" baseline="0" noProof="0" dirty="0">
              <a:ln>
                <a:noFill/>
              </a:ln>
              <a:solidFill>
                <a:prstClr val="white"/>
              </a:solidFill>
              <a:effectLst/>
              <a:uLnTx/>
              <a:uFillTx/>
              <a:latin typeface="Cooper BT Light" panose="020B0604020202020204" charset="0"/>
              <a:ea typeface="Cooper BT Light"/>
              <a:cs typeface="Cooper BT Light"/>
              <a:sym typeface="Cooper BT Light"/>
            </a:endParaRPr>
          </a:p>
        </p:txBody>
      </p:sp>
      <p:grpSp>
        <p:nvGrpSpPr>
          <p:cNvPr id="40" name="Group 15">
            <a:extLst>
              <a:ext uri="{FF2B5EF4-FFF2-40B4-BE49-F238E27FC236}">
                <a16:creationId xmlns:a16="http://schemas.microsoft.com/office/drawing/2014/main" id="{7460DB2F-CA23-42CF-A4D0-4E850CE2C133}"/>
              </a:ext>
            </a:extLst>
          </p:cNvPr>
          <p:cNvGrpSpPr/>
          <p:nvPr/>
        </p:nvGrpSpPr>
        <p:grpSpPr>
          <a:xfrm rot="-5400000">
            <a:off x="6806902" y="3647227"/>
            <a:ext cx="2927086" cy="2809232"/>
            <a:chOff x="0" y="0"/>
            <a:chExt cx="526781" cy="406400"/>
          </a:xfrm>
        </p:grpSpPr>
        <p:sp>
          <p:nvSpPr>
            <p:cNvPr id="41" name="Freeform 16">
              <a:extLst>
                <a:ext uri="{FF2B5EF4-FFF2-40B4-BE49-F238E27FC236}">
                  <a16:creationId xmlns:a16="http://schemas.microsoft.com/office/drawing/2014/main" id="{CC10CF82-50FE-4C98-A574-6860647F9D13}"/>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42" name="TextBox 17">
              <a:extLst>
                <a:ext uri="{FF2B5EF4-FFF2-40B4-BE49-F238E27FC236}">
                  <a16:creationId xmlns:a16="http://schemas.microsoft.com/office/drawing/2014/main" id="{3CDAD437-CAE6-4BDB-8452-34243AD31C8A}"/>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3" name="TextBox 42">
            <a:extLst>
              <a:ext uri="{FF2B5EF4-FFF2-40B4-BE49-F238E27FC236}">
                <a16:creationId xmlns:a16="http://schemas.microsoft.com/office/drawing/2014/main" id="{E612F392-EF4D-4CFD-802C-E8486C08EF31}"/>
              </a:ext>
            </a:extLst>
          </p:cNvPr>
          <p:cNvSpPr txBox="1"/>
          <p:nvPr/>
        </p:nvSpPr>
        <p:spPr>
          <a:xfrm>
            <a:off x="6858000" y="4383955"/>
            <a:ext cx="2809233" cy="962508"/>
          </a:xfrm>
          <a:prstGeom prst="rect">
            <a:avLst/>
          </a:prstGeom>
          <a:noFill/>
        </p:spPr>
        <p:txBody>
          <a:bodyPr wrap="square">
            <a:spAutoFit/>
          </a:bodyPr>
          <a:lstStyle/>
          <a:p>
            <a:pPr marL="0" marR="0" lvl="0" indent="0" algn="ctr" defTabSz="914400" rtl="0" eaLnBrk="1" fontAlgn="auto" latinLnBrk="0" hangingPunct="1">
              <a:lnSpc>
                <a:spcPts val="3499"/>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E8DED0"/>
                </a:solidFill>
                <a:effectLst/>
                <a:uLnTx/>
                <a:uFillTx/>
                <a:latin typeface="Cooper BT Light" panose="020B0604020202020204" charset="0"/>
              </a:rPr>
              <a:t>Rating </a:t>
            </a:r>
            <a:r>
              <a:rPr kumimoji="0" lang="en-US" sz="2800" b="0" i="0" u="none" strike="noStrike" kern="1200" cap="none" spc="0" normalizeH="0" baseline="0" noProof="0" dirty="0" err="1">
                <a:ln>
                  <a:noFill/>
                </a:ln>
                <a:solidFill>
                  <a:srgbClr val="E8DED0"/>
                </a:solidFill>
                <a:effectLst/>
                <a:uLnTx/>
                <a:uFillTx/>
                <a:latin typeface="Cooper BT Light" panose="020B0604020202020204" charset="0"/>
              </a:rPr>
              <a:t>Produk</a:t>
            </a:r>
            <a:r>
              <a:rPr kumimoji="0" lang="en-US" sz="2800" b="0" i="0" u="none" strike="noStrike" kern="1200" cap="none" spc="0" normalizeH="0" baseline="0" noProof="0" dirty="0">
                <a:ln>
                  <a:noFill/>
                </a:ln>
                <a:solidFill>
                  <a:srgbClr val="E8DED0"/>
                </a:solidFill>
                <a:effectLst/>
                <a:uLnTx/>
                <a:uFillTx/>
                <a:latin typeface="Cooper BT Light" panose="020B0604020202020204" charset="0"/>
              </a:rPr>
              <a:t> (1-5)</a:t>
            </a:r>
            <a:endParaRPr kumimoji="0" lang="en-US" sz="2800" b="0" i="0" u="none" strike="noStrike" kern="1200" cap="none" spc="0" normalizeH="0" baseline="0" noProof="0" dirty="0">
              <a:ln>
                <a:noFill/>
              </a:ln>
              <a:solidFill>
                <a:srgbClr val="E8DED0"/>
              </a:solidFill>
              <a:effectLst/>
              <a:uLnTx/>
              <a:uFillTx/>
              <a:latin typeface="Cooper BT Light" panose="020B0604020202020204" charset="0"/>
              <a:ea typeface="Cooper BT Light"/>
              <a:cs typeface="Cooper BT Light"/>
              <a:sym typeface="Cooper BT Light"/>
            </a:endParaRPr>
          </a:p>
        </p:txBody>
      </p:sp>
      <p:grpSp>
        <p:nvGrpSpPr>
          <p:cNvPr id="44" name="Group 15">
            <a:extLst>
              <a:ext uri="{FF2B5EF4-FFF2-40B4-BE49-F238E27FC236}">
                <a16:creationId xmlns:a16="http://schemas.microsoft.com/office/drawing/2014/main" id="{F31A6B2A-0280-4472-8088-DAB03DD41557}"/>
              </a:ext>
            </a:extLst>
          </p:cNvPr>
          <p:cNvGrpSpPr/>
          <p:nvPr/>
        </p:nvGrpSpPr>
        <p:grpSpPr>
          <a:xfrm rot="-5400000">
            <a:off x="3930552" y="6417288"/>
            <a:ext cx="2927086" cy="2809232"/>
            <a:chOff x="0" y="0"/>
            <a:chExt cx="526781" cy="406400"/>
          </a:xfrm>
        </p:grpSpPr>
        <p:sp>
          <p:nvSpPr>
            <p:cNvPr id="45" name="Freeform 16">
              <a:extLst>
                <a:ext uri="{FF2B5EF4-FFF2-40B4-BE49-F238E27FC236}">
                  <a16:creationId xmlns:a16="http://schemas.microsoft.com/office/drawing/2014/main" id="{A68FE3EB-F764-43F6-BC61-DB001A1B1EED}"/>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46" name="TextBox 17">
              <a:extLst>
                <a:ext uri="{FF2B5EF4-FFF2-40B4-BE49-F238E27FC236}">
                  <a16:creationId xmlns:a16="http://schemas.microsoft.com/office/drawing/2014/main" id="{5371CDEC-64EF-4202-B002-588596A25B88}"/>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47" name="Group 15">
            <a:extLst>
              <a:ext uri="{FF2B5EF4-FFF2-40B4-BE49-F238E27FC236}">
                <a16:creationId xmlns:a16="http://schemas.microsoft.com/office/drawing/2014/main" id="{A7DC4619-4C08-4A31-A6FB-58E23D8D63BA}"/>
              </a:ext>
            </a:extLst>
          </p:cNvPr>
          <p:cNvGrpSpPr/>
          <p:nvPr/>
        </p:nvGrpSpPr>
        <p:grpSpPr>
          <a:xfrm rot="-5400000">
            <a:off x="9702713" y="6539417"/>
            <a:ext cx="2927086" cy="2809232"/>
            <a:chOff x="0" y="0"/>
            <a:chExt cx="526781" cy="406400"/>
          </a:xfrm>
        </p:grpSpPr>
        <p:sp>
          <p:nvSpPr>
            <p:cNvPr id="48" name="Freeform 16">
              <a:extLst>
                <a:ext uri="{FF2B5EF4-FFF2-40B4-BE49-F238E27FC236}">
                  <a16:creationId xmlns:a16="http://schemas.microsoft.com/office/drawing/2014/main" id="{80DCB879-1C13-4121-A801-1F2DC0DD487A}"/>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49" name="TextBox 17">
              <a:extLst>
                <a:ext uri="{FF2B5EF4-FFF2-40B4-BE49-F238E27FC236}">
                  <a16:creationId xmlns:a16="http://schemas.microsoft.com/office/drawing/2014/main" id="{5FB13F04-B1C3-43AA-9752-4B975BA06817}"/>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0" name="Group 15">
            <a:extLst>
              <a:ext uri="{FF2B5EF4-FFF2-40B4-BE49-F238E27FC236}">
                <a16:creationId xmlns:a16="http://schemas.microsoft.com/office/drawing/2014/main" id="{C888B620-3587-44DD-A6A2-63B386900C4A}"/>
              </a:ext>
            </a:extLst>
          </p:cNvPr>
          <p:cNvGrpSpPr/>
          <p:nvPr/>
        </p:nvGrpSpPr>
        <p:grpSpPr>
          <a:xfrm rot="-5400000">
            <a:off x="12109393" y="3367764"/>
            <a:ext cx="2927086" cy="2809232"/>
            <a:chOff x="0" y="0"/>
            <a:chExt cx="526781" cy="406400"/>
          </a:xfrm>
        </p:grpSpPr>
        <p:sp>
          <p:nvSpPr>
            <p:cNvPr id="51" name="Freeform 16">
              <a:extLst>
                <a:ext uri="{FF2B5EF4-FFF2-40B4-BE49-F238E27FC236}">
                  <a16:creationId xmlns:a16="http://schemas.microsoft.com/office/drawing/2014/main" id="{6A4A9A99-7A8C-4C3B-9495-83173670805D}"/>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52" name="TextBox 17">
              <a:extLst>
                <a:ext uri="{FF2B5EF4-FFF2-40B4-BE49-F238E27FC236}">
                  <a16:creationId xmlns:a16="http://schemas.microsoft.com/office/drawing/2014/main" id="{DD7A1239-379D-45DD-9608-9FC80C9F1216}"/>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3" name="Group 15">
            <a:extLst>
              <a:ext uri="{FF2B5EF4-FFF2-40B4-BE49-F238E27FC236}">
                <a16:creationId xmlns:a16="http://schemas.microsoft.com/office/drawing/2014/main" id="{2220EF73-0698-45FA-8C36-6B735E477831}"/>
              </a:ext>
            </a:extLst>
          </p:cNvPr>
          <p:cNvGrpSpPr/>
          <p:nvPr/>
        </p:nvGrpSpPr>
        <p:grpSpPr>
          <a:xfrm rot="-5400000">
            <a:off x="14070257" y="6391992"/>
            <a:ext cx="2927086" cy="2809232"/>
            <a:chOff x="0" y="0"/>
            <a:chExt cx="526781" cy="406400"/>
          </a:xfrm>
        </p:grpSpPr>
        <p:sp>
          <p:nvSpPr>
            <p:cNvPr id="54" name="Freeform 16">
              <a:extLst>
                <a:ext uri="{FF2B5EF4-FFF2-40B4-BE49-F238E27FC236}">
                  <a16:creationId xmlns:a16="http://schemas.microsoft.com/office/drawing/2014/main" id="{D0BD8F00-10B2-438A-8320-0EB534B2BC31}"/>
                </a:ext>
              </a:extLst>
            </p:cNvPr>
            <p:cNvSpPr/>
            <p:nvPr/>
          </p:nvSpPr>
          <p:spPr>
            <a:xfrm>
              <a:off x="0" y="0"/>
              <a:ext cx="526782" cy="406400"/>
            </a:xfrm>
            <a:custGeom>
              <a:avLst/>
              <a:gdLst/>
              <a:ahLst/>
              <a:cxnLst/>
              <a:rect l="l" t="t" r="r" b="b"/>
              <a:pathLst>
                <a:path w="526782" h="406400">
                  <a:moveTo>
                    <a:pt x="323581" y="0"/>
                  </a:moveTo>
                  <a:cubicBezTo>
                    <a:pt x="435806" y="0"/>
                    <a:pt x="526782" y="90976"/>
                    <a:pt x="526782" y="203200"/>
                  </a:cubicBezTo>
                  <a:cubicBezTo>
                    <a:pt x="526782" y="315424"/>
                    <a:pt x="435806" y="406400"/>
                    <a:pt x="323581" y="406400"/>
                  </a:cubicBezTo>
                  <a:lnTo>
                    <a:pt x="203200" y="406400"/>
                  </a:lnTo>
                  <a:cubicBezTo>
                    <a:pt x="90976" y="406400"/>
                    <a:pt x="0" y="315424"/>
                    <a:pt x="0" y="203200"/>
                  </a:cubicBezTo>
                  <a:cubicBezTo>
                    <a:pt x="0" y="90976"/>
                    <a:pt x="90976" y="0"/>
                    <a:pt x="203200" y="0"/>
                  </a:cubicBezTo>
                  <a:close/>
                </a:path>
              </a:pathLst>
            </a:custGeom>
            <a:gradFill rotWithShape="1">
              <a:gsLst>
                <a:gs pos="0">
                  <a:srgbClr val="861A1A">
                    <a:alpha val="100000"/>
                  </a:srgbClr>
                </a:gs>
                <a:gs pos="100000">
                  <a:srgbClr val="520909">
                    <a:alpha val="100000"/>
                  </a:srgbClr>
                </a:gs>
              </a:gsLst>
              <a:path path="circle">
                <a:fillToRect r="100000" b="100000"/>
              </a:path>
              <a:tileRect l="-100000" t="-100000"/>
            </a:gradFill>
          </p:spPr>
        </p:sp>
        <p:sp>
          <p:nvSpPr>
            <p:cNvPr id="55" name="TextBox 17">
              <a:extLst>
                <a:ext uri="{FF2B5EF4-FFF2-40B4-BE49-F238E27FC236}">
                  <a16:creationId xmlns:a16="http://schemas.microsoft.com/office/drawing/2014/main" id="{4212EA51-BDC6-4F46-B5E6-5BE1AD633771}"/>
                </a:ext>
              </a:extLst>
            </p:cNvPr>
            <p:cNvSpPr txBox="1"/>
            <p:nvPr/>
          </p:nvSpPr>
          <p:spPr>
            <a:xfrm>
              <a:off x="0" y="-38100"/>
              <a:ext cx="526781"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1" name="TextBox 60">
            <a:extLst>
              <a:ext uri="{FF2B5EF4-FFF2-40B4-BE49-F238E27FC236}">
                <a16:creationId xmlns:a16="http://schemas.microsoft.com/office/drawing/2014/main" id="{965818E2-F08F-421A-A8B7-78D01DF2EA9B}"/>
              </a:ext>
            </a:extLst>
          </p:cNvPr>
          <p:cNvSpPr txBox="1"/>
          <p:nvPr/>
        </p:nvSpPr>
        <p:spPr>
          <a:xfrm>
            <a:off x="4343400" y="7048500"/>
            <a:ext cx="2007925" cy="1569660"/>
          </a:xfrm>
          <a:prstGeom prst="rect">
            <a:avLst/>
          </a:prstGeom>
          <a:noFill/>
        </p:spPr>
        <p:txBody>
          <a:bodyPr wrap="square">
            <a:spAutoFit/>
          </a:bodyPr>
          <a:lstStyle/>
          <a:p>
            <a:pPr algn="ctr"/>
            <a:r>
              <a:rPr lang="id-ID" sz="2400" dirty="0">
                <a:solidFill>
                  <a:srgbClr val="E8DED0"/>
                </a:solidFill>
                <a:latin typeface="Cooper BT Light" panose="020B0604020202020204" charset="0"/>
              </a:rPr>
              <a:t>Sentimen (positif, netral, negatif)</a:t>
            </a:r>
          </a:p>
        </p:txBody>
      </p:sp>
      <p:sp>
        <p:nvSpPr>
          <p:cNvPr id="62" name="TextBox 61">
            <a:extLst>
              <a:ext uri="{FF2B5EF4-FFF2-40B4-BE49-F238E27FC236}">
                <a16:creationId xmlns:a16="http://schemas.microsoft.com/office/drawing/2014/main" id="{DCA635BD-BED1-44EC-9FCC-61534AC59847}"/>
              </a:ext>
            </a:extLst>
          </p:cNvPr>
          <p:cNvSpPr txBox="1"/>
          <p:nvPr/>
        </p:nvSpPr>
        <p:spPr>
          <a:xfrm>
            <a:off x="10210800" y="7658100"/>
            <a:ext cx="2203808" cy="461665"/>
          </a:xfrm>
          <a:prstGeom prst="rect">
            <a:avLst/>
          </a:prstGeom>
          <a:noFill/>
        </p:spPr>
        <p:txBody>
          <a:bodyPr wrap="square">
            <a:spAutoFit/>
          </a:bodyPr>
          <a:lstStyle/>
          <a:p>
            <a:r>
              <a:rPr lang="id-ID" sz="2400" dirty="0">
                <a:solidFill>
                  <a:srgbClr val="E8DED0"/>
                </a:solidFill>
                <a:latin typeface="Cooper BT Light" panose="020B0604020202020204" charset="0"/>
              </a:rPr>
              <a:t>Nama produk</a:t>
            </a:r>
          </a:p>
        </p:txBody>
      </p:sp>
      <p:sp>
        <p:nvSpPr>
          <p:cNvPr id="64" name="TextBox 63">
            <a:extLst>
              <a:ext uri="{FF2B5EF4-FFF2-40B4-BE49-F238E27FC236}">
                <a16:creationId xmlns:a16="http://schemas.microsoft.com/office/drawing/2014/main" id="{9734DAEC-A8D3-4BE3-8005-BC6A07C93575}"/>
              </a:ext>
            </a:extLst>
          </p:cNvPr>
          <p:cNvSpPr txBox="1"/>
          <p:nvPr/>
        </p:nvSpPr>
        <p:spPr>
          <a:xfrm>
            <a:off x="12420600" y="4457700"/>
            <a:ext cx="2406681" cy="461665"/>
          </a:xfrm>
          <a:prstGeom prst="rect">
            <a:avLst/>
          </a:prstGeom>
          <a:noFill/>
        </p:spPr>
        <p:txBody>
          <a:bodyPr wrap="square">
            <a:spAutoFit/>
          </a:bodyPr>
          <a:lstStyle/>
          <a:p>
            <a:r>
              <a:rPr lang="id-ID" sz="2400">
                <a:solidFill>
                  <a:srgbClr val="E8DED0"/>
                </a:solidFill>
                <a:latin typeface="Cooper BT Light" panose="020B0604020202020204" charset="0"/>
              </a:rPr>
              <a:t>Kategori produk</a:t>
            </a:r>
            <a:endParaRPr lang="id-ID" sz="2400" dirty="0">
              <a:solidFill>
                <a:srgbClr val="E8DED0"/>
              </a:solidFill>
              <a:latin typeface="Cooper BT Light" panose="020B0604020202020204" charset="0"/>
            </a:endParaRPr>
          </a:p>
        </p:txBody>
      </p:sp>
      <p:sp>
        <p:nvSpPr>
          <p:cNvPr id="66" name="TextBox 65">
            <a:extLst>
              <a:ext uri="{FF2B5EF4-FFF2-40B4-BE49-F238E27FC236}">
                <a16:creationId xmlns:a16="http://schemas.microsoft.com/office/drawing/2014/main" id="{E7D3E2A2-5541-4528-8296-D3814A5F5FF2}"/>
              </a:ext>
            </a:extLst>
          </p:cNvPr>
          <p:cNvSpPr txBox="1"/>
          <p:nvPr/>
        </p:nvSpPr>
        <p:spPr>
          <a:xfrm>
            <a:off x="14744487" y="7537440"/>
            <a:ext cx="1714713" cy="461665"/>
          </a:xfrm>
          <a:prstGeom prst="rect">
            <a:avLst/>
          </a:prstGeom>
          <a:noFill/>
        </p:spPr>
        <p:txBody>
          <a:bodyPr wrap="square">
            <a:spAutoFit/>
          </a:bodyPr>
          <a:lstStyle/>
          <a:p>
            <a:pPr algn="ctr"/>
            <a:r>
              <a:rPr lang="id-ID" sz="2400" dirty="0">
                <a:solidFill>
                  <a:srgbClr val="E8DED0"/>
                </a:solidFill>
                <a:latin typeface="Cooper BT Light" panose="020B0604020202020204" charset="0"/>
              </a:rPr>
              <a:t>Nama toko</a:t>
            </a:r>
          </a:p>
        </p:txBody>
      </p:sp>
      <p:sp>
        <p:nvSpPr>
          <p:cNvPr id="67" name="TextBox 31">
            <a:extLst>
              <a:ext uri="{FF2B5EF4-FFF2-40B4-BE49-F238E27FC236}">
                <a16:creationId xmlns:a16="http://schemas.microsoft.com/office/drawing/2014/main" id="{78EC6717-3D5F-4BE8-B37F-093F0CD4A117}"/>
              </a:ext>
            </a:extLst>
          </p:cNvPr>
          <p:cNvSpPr txBox="1"/>
          <p:nvPr/>
        </p:nvSpPr>
        <p:spPr>
          <a:xfrm>
            <a:off x="4453997" y="5669820"/>
            <a:ext cx="1710860" cy="693267"/>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03.</a:t>
            </a:r>
          </a:p>
        </p:txBody>
      </p:sp>
      <p:sp>
        <p:nvSpPr>
          <p:cNvPr id="68" name="TextBox 31">
            <a:extLst>
              <a:ext uri="{FF2B5EF4-FFF2-40B4-BE49-F238E27FC236}">
                <a16:creationId xmlns:a16="http://schemas.microsoft.com/office/drawing/2014/main" id="{34917FAA-2FA9-48AC-B164-2940EF99F8F9}"/>
              </a:ext>
            </a:extLst>
          </p:cNvPr>
          <p:cNvSpPr txBox="1"/>
          <p:nvPr/>
        </p:nvSpPr>
        <p:spPr>
          <a:xfrm>
            <a:off x="6752421" y="2914031"/>
            <a:ext cx="1710860" cy="693267"/>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02.</a:t>
            </a:r>
          </a:p>
        </p:txBody>
      </p:sp>
      <p:sp>
        <p:nvSpPr>
          <p:cNvPr id="69" name="TextBox 31">
            <a:extLst>
              <a:ext uri="{FF2B5EF4-FFF2-40B4-BE49-F238E27FC236}">
                <a16:creationId xmlns:a16="http://schemas.microsoft.com/office/drawing/2014/main" id="{C90FF0E7-DF3E-43F6-8C42-8C8FE4D954F0}"/>
              </a:ext>
            </a:extLst>
          </p:cNvPr>
          <p:cNvSpPr txBox="1"/>
          <p:nvPr/>
        </p:nvSpPr>
        <p:spPr>
          <a:xfrm>
            <a:off x="10297365" y="5767791"/>
            <a:ext cx="1588070" cy="693267"/>
          </a:xfrm>
          <a:prstGeom prst="rect">
            <a:avLst/>
          </a:prstGeom>
        </p:spPr>
        <p:txBody>
          <a:bodyPr wrap="square"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04.</a:t>
            </a:r>
          </a:p>
        </p:txBody>
      </p:sp>
      <p:sp>
        <p:nvSpPr>
          <p:cNvPr id="70" name="TextBox 31">
            <a:extLst>
              <a:ext uri="{FF2B5EF4-FFF2-40B4-BE49-F238E27FC236}">
                <a16:creationId xmlns:a16="http://schemas.microsoft.com/office/drawing/2014/main" id="{A7A8EDE1-AFDE-491A-9D5A-CF9F50474EE6}"/>
              </a:ext>
            </a:extLst>
          </p:cNvPr>
          <p:cNvSpPr txBox="1"/>
          <p:nvPr/>
        </p:nvSpPr>
        <p:spPr>
          <a:xfrm>
            <a:off x="14147113" y="2853574"/>
            <a:ext cx="1710860" cy="693267"/>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05.</a:t>
            </a:r>
          </a:p>
        </p:txBody>
      </p:sp>
      <p:sp>
        <p:nvSpPr>
          <p:cNvPr id="71" name="TextBox 31">
            <a:extLst>
              <a:ext uri="{FF2B5EF4-FFF2-40B4-BE49-F238E27FC236}">
                <a16:creationId xmlns:a16="http://schemas.microsoft.com/office/drawing/2014/main" id="{E0C8704E-6424-41CE-BF96-AF0E62ADAAC7}"/>
              </a:ext>
            </a:extLst>
          </p:cNvPr>
          <p:cNvSpPr txBox="1"/>
          <p:nvPr/>
        </p:nvSpPr>
        <p:spPr>
          <a:xfrm>
            <a:off x="16012545" y="6104946"/>
            <a:ext cx="1710860" cy="693267"/>
          </a:xfrm>
          <a:prstGeom prst="rect">
            <a:avLst/>
          </a:prstGeom>
        </p:spPr>
        <p:txBody>
          <a:bodyPr lIns="0" tIns="0" rIns="0" bIns="0" rtlCol="0" anchor="t">
            <a:spAutoFit/>
          </a:bodyPr>
          <a:lstStyle/>
          <a:p>
            <a:pPr marL="0" marR="0" lvl="0" indent="0" algn="ctr" defTabSz="914400" rtl="0" eaLnBrk="1" fontAlgn="auto" latinLnBrk="0" hangingPunct="1">
              <a:lnSpc>
                <a:spcPts val="5879"/>
              </a:lnSpc>
              <a:spcBef>
                <a:spcPts val="0"/>
              </a:spcBef>
              <a:spcAft>
                <a:spcPts val="0"/>
              </a:spcAft>
              <a:buClrTx/>
              <a:buSzTx/>
              <a:buFontTx/>
              <a:buNone/>
              <a:tabLst/>
              <a:defRPr/>
            </a:pPr>
            <a:r>
              <a:rPr kumimoji="0" lang="en-US" sz="4199" b="1" i="1" u="none" strike="noStrike" kern="1200" cap="none" spc="0" normalizeH="0" baseline="0" noProof="0" dirty="0">
                <a:ln>
                  <a:noFill/>
                </a:ln>
                <a:solidFill>
                  <a:srgbClr val="861A1A"/>
                </a:solidFill>
                <a:effectLst/>
                <a:uLnTx/>
                <a:uFillTx/>
                <a:latin typeface="Cooper BT Bold Italics"/>
                <a:ea typeface="Cooper BT Bold Italics"/>
                <a:cs typeface="Cooper BT Bold Italics"/>
                <a:sym typeface="Cooper BT Bold Italics"/>
              </a:rPr>
              <a:t>06.</a:t>
            </a:r>
          </a:p>
        </p:txBody>
      </p:sp>
    </p:spTree>
    <p:extLst>
      <p:ext uri="{BB962C8B-B14F-4D97-AF65-F5344CB8AC3E}">
        <p14:creationId xmlns:p14="http://schemas.microsoft.com/office/powerpoint/2010/main" val="34424748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sp>
        <p:nvSpPr>
          <p:cNvPr id="15" name="TextBox 15"/>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08</a:t>
            </a:r>
          </a:p>
        </p:txBody>
      </p:sp>
      <p:sp>
        <p:nvSpPr>
          <p:cNvPr id="16" name="TextBox 1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18" name="TextBox 18"/>
          <p:cNvSpPr txBox="1"/>
          <p:nvPr/>
        </p:nvSpPr>
        <p:spPr>
          <a:xfrm>
            <a:off x="5107943" y="1149406"/>
            <a:ext cx="8659327" cy="1124090"/>
          </a:xfrm>
          <a:prstGeom prst="rect">
            <a:avLst/>
          </a:prstGeom>
        </p:spPr>
        <p:txBody>
          <a:bodyPr lIns="0" tIns="0" rIns="0" bIns="0" rtlCol="0" anchor="t">
            <a:spAutoFit/>
          </a:bodyPr>
          <a:lstStyle/>
          <a:p>
            <a:pPr algn="ctr">
              <a:lnSpc>
                <a:spcPts val="9799"/>
              </a:lnSpc>
            </a:pPr>
            <a:r>
              <a:rPr lang="en-US" sz="4800" dirty="0" err="1">
                <a:solidFill>
                  <a:srgbClr val="861A1A"/>
                </a:solidFill>
                <a:latin typeface="Cooper BT Light"/>
                <a:ea typeface="Cooper BT Light"/>
                <a:cs typeface="Cooper BT Light"/>
                <a:sym typeface="Cooper BT Light"/>
              </a:rPr>
              <a:t>Metodologi</a:t>
            </a:r>
            <a:r>
              <a:rPr lang="en-US" sz="4800" dirty="0">
                <a:solidFill>
                  <a:srgbClr val="861A1A"/>
                </a:solidFill>
                <a:latin typeface="Cooper BT Light"/>
                <a:ea typeface="Cooper BT Light"/>
                <a:cs typeface="Cooper BT Light"/>
                <a:sym typeface="Cooper BT Light"/>
              </a:rPr>
              <a:t> </a:t>
            </a:r>
            <a:r>
              <a:rPr lang="en-US" sz="4800" dirty="0" err="1">
                <a:solidFill>
                  <a:srgbClr val="861A1A"/>
                </a:solidFill>
                <a:latin typeface="Cooper BT Light"/>
                <a:ea typeface="Cooper BT Light"/>
                <a:cs typeface="Cooper BT Light"/>
                <a:sym typeface="Cooper BT Light"/>
              </a:rPr>
              <a:t>Penelitian</a:t>
            </a:r>
            <a:endParaRPr lang="en-US" sz="4800" dirty="0">
              <a:solidFill>
                <a:srgbClr val="861A1A"/>
              </a:solidFill>
              <a:latin typeface="Cooper BT Light"/>
              <a:ea typeface="Cooper BT Light"/>
              <a:cs typeface="Cooper BT Light"/>
              <a:sym typeface="Cooper BT Light"/>
            </a:endParaRPr>
          </a:p>
        </p:txBody>
      </p:sp>
      <p:grpSp>
        <p:nvGrpSpPr>
          <p:cNvPr id="19" name="Group 19"/>
          <p:cNvGrpSpPr/>
          <p:nvPr/>
        </p:nvGrpSpPr>
        <p:grpSpPr>
          <a:xfrm>
            <a:off x="-745136" y="4767291"/>
            <a:ext cx="4184845" cy="5046279"/>
            <a:chOff x="0" y="-44858"/>
            <a:chExt cx="3357995" cy="918820"/>
          </a:xfrm>
        </p:grpSpPr>
        <p:sp>
          <p:nvSpPr>
            <p:cNvPr id="20" name="Freeform 20"/>
            <p:cNvSpPr/>
            <p:nvPr/>
          </p:nvSpPr>
          <p:spPr>
            <a:xfrm>
              <a:off x="1339621" y="-44858"/>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21" name="TextBox 21"/>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157452" y="4273286"/>
            <a:ext cx="2076029" cy="1166272"/>
            <a:chOff x="0" y="0"/>
            <a:chExt cx="2790667" cy="406400"/>
          </a:xfrm>
        </p:grpSpPr>
        <p:sp>
          <p:nvSpPr>
            <p:cNvPr id="26" name="Freeform 26"/>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27" name="TextBox 27"/>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1826848" y="2337222"/>
            <a:ext cx="15654469" cy="2044278"/>
          </a:xfrm>
          <a:prstGeom prst="rect">
            <a:avLst/>
          </a:prstGeom>
        </p:spPr>
        <p:txBody>
          <a:bodyPr wrap="square" lIns="0" tIns="0" rIns="0" bIns="0" rtlCol="0" anchor="t">
            <a:spAutoFit/>
          </a:bodyPr>
          <a:lstStyle/>
          <a:p>
            <a:pPr algn="ctr">
              <a:lnSpc>
                <a:spcPts val="4060"/>
              </a:lnSpc>
            </a:pPr>
            <a:r>
              <a:rPr lang="id-ID" sz="2400" dirty="0">
                <a:solidFill>
                  <a:srgbClr val="9D4946"/>
                </a:solidFill>
                <a:latin typeface="Cooper BT Light" panose="020B0604020202020204" charset="0"/>
              </a:rPr>
              <a:t>Penelitian ini menggunakan metodologi </a:t>
            </a:r>
            <a:r>
              <a:rPr lang="id-ID" sz="2400" b="1" dirty="0">
                <a:solidFill>
                  <a:srgbClr val="9D4946"/>
                </a:solidFill>
                <a:latin typeface="Cooper BT Light" panose="020B0604020202020204" charset="0"/>
              </a:rPr>
              <a:t>CRISP-DM (Cross-Industry Standard Process for Data Mining)</a:t>
            </a:r>
            <a:r>
              <a:rPr lang="id-ID" sz="2400" dirty="0">
                <a:solidFill>
                  <a:srgbClr val="9D4946"/>
                </a:solidFill>
                <a:latin typeface="Cooper BT Light" panose="020B0604020202020204" charset="0"/>
              </a:rPr>
              <a:t>, yaitu kerangka kerja standar dalam data mining yang digunakan untuk mengolah data mentah menjadi informasi yang bernilai. Metodologi ini dipilih karena memiliki tahapan yang sistematis dan </a:t>
            </a:r>
            <a:r>
              <a:rPr lang="en-US" sz="2400" dirty="0">
                <a:solidFill>
                  <a:srgbClr val="9D4946"/>
                </a:solidFill>
                <a:latin typeface="Cooper BT Light" panose="020B0604020202020204" charset="0"/>
              </a:rPr>
              <a:t>g</a:t>
            </a:r>
            <a:r>
              <a:rPr lang="id-ID" sz="2400" dirty="0">
                <a:solidFill>
                  <a:srgbClr val="9D4946"/>
                </a:solidFill>
                <a:latin typeface="Cooper BT Light" panose="020B0604020202020204" charset="0"/>
              </a:rPr>
              <a:t>, sehingga sesuai untuk proses analisis sentimen dan evaluasi model secara terarah.</a:t>
            </a:r>
            <a:endParaRPr lang="en-US" sz="2400" dirty="0">
              <a:solidFill>
                <a:srgbClr val="9D4946"/>
              </a:solidFill>
              <a:latin typeface="Cooper BT Light" panose="020B0604020202020204" charset="0"/>
              <a:ea typeface="Cooper BT Light"/>
              <a:cs typeface="Cooper BT Light"/>
              <a:sym typeface="Cooper BT Light"/>
            </a:endParaRPr>
          </a:p>
        </p:txBody>
      </p:sp>
      <p:sp>
        <p:nvSpPr>
          <p:cNvPr id="32" name="TextBox 32"/>
          <p:cNvSpPr txBox="1"/>
          <p:nvPr/>
        </p:nvSpPr>
        <p:spPr>
          <a:xfrm>
            <a:off x="1157452" y="4553092"/>
            <a:ext cx="2059637" cy="615553"/>
          </a:xfrm>
          <a:prstGeom prst="rect">
            <a:avLst/>
          </a:prstGeom>
        </p:spPr>
        <p:txBody>
          <a:bodyPr wrap="square" lIns="0" tIns="0" rIns="0" bIns="0" rtlCol="0" anchor="t">
            <a:spAutoFit/>
          </a:bodyPr>
          <a:lstStyle/>
          <a:p>
            <a:pPr algn="ctr"/>
            <a:r>
              <a:rPr lang="id-ID" sz="2000" b="1" dirty="0">
                <a:solidFill>
                  <a:srgbClr val="E8DED0"/>
                </a:solidFill>
                <a:latin typeface="Cooper BT Light" panose="020B0604020202020204" charset="0"/>
              </a:rPr>
              <a:t>Business Understanding</a:t>
            </a:r>
            <a:endParaRPr lang="en-US" sz="2000" b="1" dirty="0">
              <a:solidFill>
                <a:srgbClr val="E8DED0"/>
              </a:solidFill>
              <a:latin typeface="Cooper BT Light" panose="020B0604020202020204" charset="0"/>
              <a:ea typeface="Cooper BT Bold"/>
              <a:cs typeface="Cooper BT Bold"/>
              <a:sym typeface="Cooper BT Bold"/>
            </a:endParaRPr>
          </a:p>
        </p:txBody>
      </p:sp>
      <p:sp>
        <p:nvSpPr>
          <p:cNvPr id="40" name="TextBox 39">
            <a:extLst>
              <a:ext uri="{FF2B5EF4-FFF2-40B4-BE49-F238E27FC236}">
                <a16:creationId xmlns:a16="http://schemas.microsoft.com/office/drawing/2014/main" id="{6330010E-C112-4903-BF02-26BB2A512575}"/>
              </a:ext>
            </a:extLst>
          </p:cNvPr>
          <p:cNvSpPr txBox="1"/>
          <p:nvPr/>
        </p:nvSpPr>
        <p:spPr>
          <a:xfrm>
            <a:off x="996181" y="5596118"/>
            <a:ext cx="2343601" cy="3785652"/>
          </a:xfrm>
          <a:prstGeom prst="rect">
            <a:avLst/>
          </a:prstGeom>
          <a:noFill/>
        </p:spPr>
        <p:txBody>
          <a:bodyPr wrap="square">
            <a:spAutoFit/>
          </a:bodyPr>
          <a:lstStyle/>
          <a:p>
            <a:pPr algn="ctr"/>
            <a:r>
              <a:rPr lang="id-ID" sz="2000" dirty="0">
                <a:solidFill>
                  <a:srgbClr val="9D4946"/>
                </a:solidFill>
                <a:latin typeface="Cooper BT Light" panose="020B0604020202020204" charset="0"/>
              </a:rPr>
              <a:t>Tahap ini bertujuan untuk memahami permasalahan dan tujuan penelitian, yaitu sulitnya analisis sentimen konsumen secara manual akibat banyaknya ulasan produk di Tokopedia. </a:t>
            </a:r>
            <a:endParaRPr lang="en-US" sz="2000" dirty="0">
              <a:solidFill>
                <a:srgbClr val="9D4946"/>
              </a:solidFill>
              <a:latin typeface="Cooper BT Light" panose="020B0604020202020204" charset="0"/>
              <a:ea typeface="Cooper BT Light"/>
              <a:cs typeface="Cooper BT Light"/>
              <a:sym typeface="Cooper BT Light"/>
            </a:endParaRPr>
          </a:p>
        </p:txBody>
      </p:sp>
      <p:grpSp>
        <p:nvGrpSpPr>
          <p:cNvPr id="41" name="Group 19">
            <a:extLst>
              <a:ext uri="{FF2B5EF4-FFF2-40B4-BE49-F238E27FC236}">
                <a16:creationId xmlns:a16="http://schemas.microsoft.com/office/drawing/2014/main" id="{9718DAF1-23B8-4A68-93C4-5580FB59D99B}"/>
              </a:ext>
            </a:extLst>
          </p:cNvPr>
          <p:cNvGrpSpPr/>
          <p:nvPr/>
        </p:nvGrpSpPr>
        <p:grpSpPr>
          <a:xfrm>
            <a:off x="2263535" y="4924558"/>
            <a:ext cx="4567080" cy="4910426"/>
            <a:chOff x="0" y="-44858"/>
            <a:chExt cx="3357995" cy="918820"/>
          </a:xfrm>
        </p:grpSpPr>
        <p:sp>
          <p:nvSpPr>
            <p:cNvPr id="42" name="Freeform 20">
              <a:extLst>
                <a:ext uri="{FF2B5EF4-FFF2-40B4-BE49-F238E27FC236}">
                  <a16:creationId xmlns:a16="http://schemas.microsoft.com/office/drawing/2014/main" id="{8A4B126C-7FCA-40DC-AE3B-6EF280C643EC}"/>
                </a:ext>
              </a:extLst>
            </p:cNvPr>
            <p:cNvSpPr/>
            <p:nvPr/>
          </p:nvSpPr>
          <p:spPr>
            <a:xfrm>
              <a:off x="1339621" y="-44858"/>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43" name="TextBox 21">
              <a:extLst>
                <a:ext uri="{FF2B5EF4-FFF2-40B4-BE49-F238E27FC236}">
                  <a16:creationId xmlns:a16="http://schemas.microsoft.com/office/drawing/2014/main" id="{53B8A167-390F-4577-B7D2-8183B0DCFF88}"/>
                </a:ext>
              </a:extLst>
            </p:cNvPr>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44" name="Group 19">
            <a:extLst>
              <a:ext uri="{FF2B5EF4-FFF2-40B4-BE49-F238E27FC236}">
                <a16:creationId xmlns:a16="http://schemas.microsoft.com/office/drawing/2014/main" id="{C6FDAED3-C24E-498C-9A31-3846E23746CC}"/>
              </a:ext>
            </a:extLst>
          </p:cNvPr>
          <p:cNvGrpSpPr/>
          <p:nvPr/>
        </p:nvGrpSpPr>
        <p:grpSpPr>
          <a:xfrm>
            <a:off x="6019800" y="5081449"/>
            <a:ext cx="4415508" cy="5073699"/>
            <a:chOff x="0" y="-94306"/>
            <a:chExt cx="3258660" cy="968268"/>
          </a:xfrm>
        </p:grpSpPr>
        <p:sp>
          <p:nvSpPr>
            <p:cNvPr id="45" name="Freeform 20">
              <a:extLst>
                <a:ext uri="{FF2B5EF4-FFF2-40B4-BE49-F238E27FC236}">
                  <a16:creationId xmlns:a16="http://schemas.microsoft.com/office/drawing/2014/main" id="{919AC8F3-A7E4-43D8-B032-385817139015}"/>
                </a:ext>
              </a:extLst>
            </p:cNvPr>
            <p:cNvSpPr/>
            <p:nvPr/>
          </p:nvSpPr>
          <p:spPr>
            <a:xfrm>
              <a:off x="1240286" y="-94306"/>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46" name="TextBox 21">
              <a:extLst>
                <a:ext uri="{FF2B5EF4-FFF2-40B4-BE49-F238E27FC236}">
                  <a16:creationId xmlns:a16="http://schemas.microsoft.com/office/drawing/2014/main" id="{4AD33193-0954-4FF4-992A-21291060D08F}"/>
                </a:ext>
              </a:extLst>
            </p:cNvPr>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47" name="Group 19">
            <a:extLst>
              <a:ext uri="{FF2B5EF4-FFF2-40B4-BE49-F238E27FC236}">
                <a16:creationId xmlns:a16="http://schemas.microsoft.com/office/drawing/2014/main" id="{8E5A2C2C-DAEA-4204-A3FB-063952B1FB6A}"/>
              </a:ext>
            </a:extLst>
          </p:cNvPr>
          <p:cNvGrpSpPr/>
          <p:nvPr/>
        </p:nvGrpSpPr>
        <p:grpSpPr>
          <a:xfrm>
            <a:off x="9461066" y="4977198"/>
            <a:ext cx="4714048" cy="4910426"/>
            <a:chOff x="0" y="-44858"/>
            <a:chExt cx="3357995" cy="918820"/>
          </a:xfrm>
        </p:grpSpPr>
        <p:sp>
          <p:nvSpPr>
            <p:cNvPr id="48" name="Freeform 20">
              <a:extLst>
                <a:ext uri="{FF2B5EF4-FFF2-40B4-BE49-F238E27FC236}">
                  <a16:creationId xmlns:a16="http://schemas.microsoft.com/office/drawing/2014/main" id="{0BA241E9-D1B6-43D6-B5C8-87B5580C89BC}"/>
                </a:ext>
              </a:extLst>
            </p:cNvPr>
            <p:cNvSpPr/>
            <p:nvPr/>
          </p:nvSpPr>
          <p:spPr>
            <a:xfrm>
              <a:off x="1339621" y="-44858"/>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49" name="TextBox 21">
              <a:extLst>
                <a:ext uri="{FF2B5EF4-FFF2-40B4-BE49-F238E27FC236}">
                  <a16:creationId xmlns:a16="http://schemas.microsoft.com/office/drawing/2014/main" id="{F3A3B2BB-C6BA-4D5B-B615-8167D684E502}"/>
                </a:ext>
              </a:extLst>
            </p:cNvPr>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50" name="Group 19">
            <a:extLst>
              <a:ext uri="{FF2B5EF4-FFF2-40B4-BE49-F238E27FC236}">
                <a16:creationId xmlns:a16="http://schemas.microsoft.com/office/drawing/2014/main" id="{30CDB8D5-8D1C-4CD8-8D9B-516540569F64}"/>
              </a:ext>
            </a:extLst>
          </p:cNvPr>
          <p:cNvGrpSpPr/>
          <p:nvPr/>
        </p:nvGrpSpPr>
        <p:grpSpPr>
          <a:xfrm>
            <a:off x="13228320" y="4816034"/>
            <a:ext cx="4602480" cy="4910426"/>
            <a:chOff x="0" y="-44858"/>
            <a:chExt cx="3357995" cy="918820"/>
          </a:xfrm>
        </p:grpSpPr>
        <p:sp>
          <p:nvSpPr>
            <p:cNvPr id="51" name="Freeform 20">
              <a:extLst>
                <a:ext uri="{FF2B5EF4-FFF2-40B4-BE49-F238E27FC236}">
                  <a16:creationId xmlns:a16="http://schemas.microsoft.com/office/drawing/2014/main" id="{6009C775-109B-4022-8B18-E1EEBA858EB6}"/>
                </a:ext>
              </a:extLst>
            </p:cNvPr>
            <p:cNvSpPr/>
            <p:nvPr/>
          </p:nvSpPr>
          <p:spPr>
            <a:xfrm>
              <a:off x="1339621" y="-44858"/>
              <a:ext cx="2018374" cy="873962"/>
            </a:xfrm>
            <a:custGeom>
              <a:avLst/>
              <a:gdLst/>
              <a:ahLst/>
              <a:cxnLst/>
              <a:rect l="l" t="t" r="r" b="b"/>
              <a:pathLst>
                <a:path w="2018374" h="873962">
                  <a:moveTo>
                    <a:pt x="50512" y="0"/>
                  </a:moveTo>
                  <a:lnTo>
                    <a:pt x="1967863" y="0"/>
                  </a:lnTo>
                  <a:cubicBezTo>
                    <a:pt x="1995760" y="0"/>
                    <a:pt x="2018374" y="22615"/>
                    <a:pt x="2018374" y="50512"/>
                  </a:cubicBezTo>
                  <a:lnTo>
                    <a:pt x="2018374" y="823451"/>
                  </a:lnTo>
                  <a:cubicBezTo>
                    <a:pt x="2018374" y="836847"/>
                    <a:pt x="2013053" y="849695"/>
                    <a:pt x="2003580" y="859168"/>
                  </a:cubicBezTo>
                  <a:cubicBezTo>
                    <a:pt x="1994107" y="868641"/>
                    <a:pt x="1981259" y="873962"/>
                    <a:pt x="1967863" y="873962"/>
                  </a:cubicBezTo>
                  <a:lnTo>
                    <a:pt x="50512" y="873962"/>
                  </a:lnTo>
                  <a:cubicBezTo>
                    <a:pt x="37115" y="873962"/>
                    <a:pt x="24267" y="868641"/>
                    <a:pt x="14794" y="859168"/>
                  </a:cubicBezTo>
                  <a:cubicBezTo>
                    <a:pt x="5322" y="849695"/>
                    <a:pt x="0" y="836847"/>
                    <a:pt x="0" y="823451"/>
                  </a:cubicBezTo>
                  <a:lnTo>
                    <a:pt x="0" y="50512"/>
                  </a:lnTo>
                  <a:cubicBezTo>
                    <a:pt x="0" y="37115"/>
                    <a:pt x="5322" y="24267"/>
                    <a:pt x="14794" y="14794"/>
                  </a:cubicBezTo>
                  <a:cubicBezTo>
                    <a:pt x="24267" y="5322"/>
                    <a:pt x="37115" y="0"/>
                    <a:pt x="50512" y="0"/>
                  </a:cubicBezTo>
                  <a:close/>
                </a:path>
              </a:pathLst>
            </a:custGeom>
            <a:solidFill>
              <a:srgbClr val="000000">
                <a:alpha val="0"/>
              </a:srgbClr>
            </a:solidFill>
            <a:ln w="47625" cap="rnd">
              <a:solidFill>
                <a:srgbClr val="861A1A"/>
              </a:solidFill>
              <a:prstDash val="solid"/>
              <a:round/>
            </a:ln>
          </p:spPr>
          <p:txBody>
            <a:bodyPr/>
            <a:lstStyle/>
            <a:p>
              <a:endParaRPr lang="id-ID" dirty="0"/>
            </a:p>
          </p:txBody>
        </p:sp>
        <p:sp>
          <p:nvSpPr>
            <p:cNvPr id="52" name="TextBox 21">
              <a:extLst>
                <a:ext uri="{FF2B5EF4-FFF2-40B4-BE49-F238E27FC236}">
                  <a16:creationId xmlns:a16="http://schemas.microsoft.com/office/drawing/2014/main" id="{9E94BA57-73E2-47E1-9125-8AACEEFBB59A}"/>
                </a:ext>
              </a:extLst>
            </p:cNvPr>
            <p:cNvSpPr txBox="1"/>
            <p:nvPr/>
          </p:nvSpPr>
          <p:spPr>
            <a:xfrm>
              <a:off x="0" y="-38100"/>
              <a:ext cx="2018375" cy="912062"/>
            </a:xfrm>
            <a:prstGeom prst="rect">
              <a:avLst/>
            </a:prstGeom>
          </p:spPr>
          <p:txBody>
            <a:bodyPr lIns="50800" tIns="50800" rIns="50800" bIns="50800" rtlCol="0" anchor="ctr"/>
            <a:lstStyle/>
            <a:p>
              <a:pPr algn="ctr">
                <a:lnSpc>
                  <a:spcPts val="2659"/>
                </a:lnSpc>
              </a:pPr>
              <a:endParaRPr/>
            </a:p>
          </p:txBody>
        </p:sp>
      </p:grpSp>
      <p:grpSp>
        <p:nvGrpSpPr>
          <p:cNvPr id="53" name="Group 25">
            <a:extLst>
              <a:ext uri="{FF2B5EF4-FFF2-40B4-BE49-F238E27FC236}">
                <a16:creationId xmlns:a16="http://schemas.microsoft.com/office/drawing/2014/main" id="{FBC2E152-F0C2-419F-B76F-99D86D097DDB}"/>
              </a:ext>
            </a:extLst>
          </p:cNvPr>
          <p:cNvGrpSpPr/>
          <p:nvPr/>
        </p:nvGrpSpPr>
        <p:grpSpPr>
          <a:xfrm>
            <a:off x="4477171" y="4305300"/>
            <a:ext cx="2076029" cy="1166272"/>
            <a:chOff x="0" y="0"/>
            <a:chExt cx="2790667" cy="406400"/>
          </a:xfrm>
        </p:grpSpPr>
        <p:sp>
          <p:nvSpPr>
            <p:cNvPr id="54" name="Freeform 26">
              <a:extLst>
                <a:ext uri="{FF2B5EF4-FFF2-40B4-BE49-F238E27FC236}">
                  <a16:creationId xmlns:a16="http://schemas.microsoft.com/office/drawing/2014/main" id="{084527AA-301A-4078-82AE-BC651B97A6F8}"/>
                </a:ext>
              </a:extLst>
            </p:cNvPr>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55" name="TextBox 27">
              <a:extLst>
                <a:ext uri="{FF2B5EF4-FFF2-40B4-BE49-F238E27FC236}">
                  <a16:creationId xmlns:a16="http://schemas.microsoft.com/office/drawing/2014/main" id="{084D1DD3-FE09-425F-8164-D6F541384F60}"/>
                </a:ext>
              </a:extLst>
            </p:cNvPr>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grpSp>
        <p:nvGrpSpPr>
          <p:cNvPr id="56" name="Group 25">
            <a:extLst>
              <a:ext uri="{FF2B5EF4-FFF2-40B4-BE49-F238E27FC236}">
                <a16:creationId xmlns:a16="http://schemas.microsoft.com/office/drawing/2014/main" id="{0B64969A-14EF-433C-9465-F4BBE04DEBBB}"/>
              </a:ext>
            </a:extLst>
          </p:cNvPr>
          <p:cNvGrpSpPr/>
          <p:nvPr/>
        </p:nvGrpSpPr>
        <p:grpSpPr>
          <a:xfrm>
            <a:off x="8058571" y="4434428"/>
            <a:ext cx="2076029" cy="1166272"/>
            <a:chOff x="0" y="0"/>
            <a:chExt cx="2790667" cy="406400"/>
          </a:xfrm>
        </p:grpSpPr>
        <p:sp>
          <p:nvSpPr>
            <p:cNvPr id="57" name="Freeform 26">
              <a:extLst>
                <a:ext uri="{FF2B5EF4-FFF2-40B4-BE49-F238E27FC236}">
                  <a16:creationId xmlns:a16="http://schemas.microsoft.com/office/drawing/2014/main" id="{2649D634-907F-40D5-B679-A244B39C5984}"/>
                </a:ext>
              </a:extLst>
            </p:cNvPr>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58" name="TextBox 27">
              <a:extLst>
                <a:ext uri="{FF2B5EF4-FFF2-40B4-BE49-F238E27FC236}">
                  <a16:creationId xmlns:a16="http://schemas.microsoft.com/office/drawing/2014/main" id="{6E01C2D4-1C74-42ED-A0BD-913F77A8D35D}"/>
                </a:ext>
              </a:extLst>
            </p:cNvPr>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grpSp>
        <p:nvGrpSpPr>
          <p:cNvPr id="59" name="Group 25">
            <a:extLst>
              <a:ext uri="{FF2B5EF4-FFF2-40B4-BE49-F238E27FC236}">
                <a16:creationId xmlns:a16="http://schemas.microsoft.com/office/drawing/2014/main" id="{990259A7-CCF6-45D5-8430-DE39F68EDDED}"/>
              </a:ext>
            </a:extLst>
          </p:cNvPr>
          <p:cNvGrpSpPr/>
          <p:nvPr/>
        </p:nvGrpSpPr>
        <p:grpSpPr>
          <a:xfrm>
            <a:off x="15449971" y="4335651"/>
            <a:ext cx="2076029" cy="1166272"/>
            <a:chOff x="0" y="0"/>
            <a:chExt cx="2790667" cy="406400"/>
          </a:xfrm>
        </p:grpSpPr>
        <p:sp>
          <p:nvSpPr>
            <p:cNvPr id="60" name="Freeform 26">
              <a:extLst>
                <a:ext uri="{FF2B5EF4-FFF2-40B4-BE49-F238E27FC236}">
                  <a16:creationId xmlns:a16="http://schemas.microsoft.com/office/drawing/2014/main" id="{B885E646-34A0-48B8-A11F-AD97563DBA8D}"/>
                </a:ext>
              </a:extLst>
            </p:cNvPr>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61" name="TextBox 27">
              <a:extLst>
                <a:ext uri="{FF2B5EF4-FFF2-40B4-BE49-F238E27FC236}">
                  <a16:creationId xmlns:a16="http://schemas.microsoft.com/office/drawing/2014/main" id="{C88399C6-B69C-4A8E-9BC2-B3E794F6CCA5}"/>
                </a:ext>
              </a:extLst>
            </p:cNvPr>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grpSp>
        <p:nvGrpSpPr>
          <p:cNvPr id="62" name="Group 25">
            <a:extLst>
              <a:ext uri="{FF2B5EF4-FFF2-40B4-BE49-F238E27FC236}">
                <a16:creationId xmlns:a16="http://schemas.microsoft.com/office/drawing/2014/main" id="{92806827-8CD2-4EFE-A5E4-67A1D2019100}"/>
              </a:ext>
            </a:extLst>
          </p:cNvPr>
          <p:cNvGrpSpPr/>
          <p:nvPr/>
        </p:nvGrpSpPr>
        <p:grpSpPr>
          <a:xfrm>
            <a:off x="11716171" y="4434428"/>
            <a:ext cx="2076029" cy="1166272"/>
            <a:chOff x="0" y="0"/>
            <a:chExt cx="2790667" cy="406400"/>
          </a:xfrm>
        </p:grpSpPr>
        <p:sp>
          <p:nvSpPr>
            <p:cNvPr id="63" name="Freeform 26">
              <a:extLst>
                <a:ext uri="{FF2B5EF4-FFF2-40B4-BE49-F238E27FC236}">
                  <a16:creationId xmlns:a16="http://schemas.microsoft.com/office/drawing/2014/main" id="{D3D2ABA8-20DC-41F3-9D71-EBF312BFCF27}"/>
                </a:ext>
              </a:extLst>
            </p:cNvPr>
            <p:cNvSpPr/>
            <p:nvPr/>
          </p:nvSpPr>
          <p:spPr>
            <a:xfrm>
              <a:off x="0" y="0"/>
              <a:ext cx="2790667" cy="406400"/>
            </a:xfrm>
            <a:custGeom>
              <a:avLst/>
              <a:gdLst/>
              <a:ahLst/>
              <a:cxnLst/>
              <a:rect l="l" t="t" r="r" b="b"/>
              <a:pathLst>
                <a:path w="2790667" h="406400">
                  <a:moveTo>
                    <a:pt x="2587467" y="0"/>
                  </a:moveTo>
                  <a:cubicBezTo>
                    <a:pt x="2699691" y="0"/>
                    <a:pt x="2790667" y="90976"/>
                    <a:pt x="2790667" y="203200"/>
                  </a:cubicBezTo>
                  <a:cubicBezTo>
                    <a:pt x="2790667" y="315424"/>
                    <a:pt x="2699691" y="406400"/>
                    <a:pt x="2587467" y="406400"/>
                  </a:cubicBezTo>
                  <a:lnTo>
                    <a:pt x="203200" y="406400"/>
                  </a:lnTo>
                  <a:cubicBezTo>
                    <a:pt x="90976" y="406400"/>
                    <a:pt x="0" y="315424"/>
                    <a:pt x="0" y="203200"/>
                  </a:cubicBezTo>
                  <a:cubicBezTo>
                    <a:pt x="0" y="90976"/>
                    <a:pt x="90976" y="0"/>
                    <a:pt x="203200" y="0"/>
                  </a:cubicBezTo>
                  <a:close/>
                </a:path>
              </a:pathLst>
            </a:custGeom>
            <a:solidFill>
              <a:srgbClr val="861A1A"/>
            </a:solidFill>
          </p:spPr>
        </p:sp>
        <p:sp>
          <p:nvSpPr>
            <p:cNvPr id="64" name="TextBox 27">
              <a:extLst>
                <a:ext uri="{FF2B5EF4-FFF2-40B4-BE49-F238E27FC236}">
                  <a16:creationId xmlns:a16="http://schemas.microsoft.com/office/drawing/2014/main" id="{34F949A0-0754-4DEA-B620-CFB496250CE3}"/>
                </a:ext>
              </a:extLst>
            </p:cNvPr>
            <p:cNvSpPr txBox="1"/>
            <p:nvPr/>
          </p:nvSpPr>
          <p:spPr>
            <a:xfrm>
              <a:off x="0" y="-38100"/>
              <a:ext cx="2790667" cy="444500"/>
            </a:xfrm>
            <a:prstGeom prst="rect">
              <a:avLst/>
            </a:prstGeom>
          </p:spPr>
          <p:txBody>
            <a:bodyPr lIns="50800" tIns="50800" rIns="50800" bIns="50800" rtlCol="0" anchor="ctr"/>
            <a:lstStyle/>
            <a:p>
              <a:pPr algn="ctr">
                <a:lnSpc>
                  <a:spcPts val="2659"/>
                </a:lnSpc>
              </a:pPr>
              <a:endParaRPr/>
            </a:p>
          </p:txBody>
        </p:sp>
      </p:grpSp>
      <p:sp>
        <p:nvSpPr>
          <p:cNvPr id="67" name="TextBox 66">
            <a:extLst>
              <a:ext uri="{FF2B5EF4-FFF2-40B4-BE49-F238E27FC236}">
                <a16:creationId xmlns:a16="http://schemas.microsoft.com/office/drawing/2014/main" id="{07C88C63-C258-44A6-9470-71DC58BC78D8}"/>
              </a:ext>
            </a:extLst>
          </p:cNvPr>
          <p:cNvSpPr txBox="1"/>
          <p:nvPr/>
        </p:nvSpPr>
        <p:spPr>
          <a:xfrm>
            <a:off x="4495800" y="4460759"/>
            <a:ext cx="1940564" cy="707886"/>
          </a:xfrm>
          <a:prstGeom prst="rect">
            <a:avLst/>
          </a:prstGeom>
          <a:noFill/>
        </p:spPr>
        <p:txBody>
          <a:bodyPr wrap="square">
            <a:spAutoFit/>
          </a:bodyPr>
          <a:lstStyle/>
          <a:p>
            <a:pPr algn="ctr"/>
            <a:r>
              <a:rPr lang="id-ID" sz="2000" b="1" dirty="0">
                <a:solidFill>
                  <a:srgbClr val="E8DED0"/>
                </a:solidFill>
                <a:latin typeface="Cooper BT Light" panose="020B0604020202020204" charset="0"/>
              </a:rPr>
              <a:t>Data Understanding</a:t>
            </a:r>
          </a:p>
        </p:txBody>
      </p:sp>
      <p:sp>
        <p:nvSpPr>
          <p:cNvPr id="69" name="TextBox 68">
            <a:extLst>
              <a:ext uri="{FF2B5EF4-FFF2-40B4-BE49-F238E27FC236}">
                <a16:creationId xmlns:a16="http://schemas.microsoft.com/office/drawing/2014/main" id="{63A58D68-8863-44E5-AEC5-7E7FF9C027FA}"/>
              </a:ext>
            </a:extLst>
          </p:cNvPr>
          <p:cNvSpPr txBox="1"/>
          <p:nvPr/>
        </p:nvSpPr>
        <p:spPr>
          <a:xfrm>
            <a:off x="8136943" y="4533900"/>
            <a:ext cx="1845257" cy="707886"/>
          </a:xfrm>
          <a:prstGeom prst="rect">
            <a:avLst/>
          </a:prstGeom>
          <a:noFill/>
        </p:spPr>
        <p:txBody>
          <a:bodyPr wrap="square">
            <a:spAutoFit/>
          </a:bodyPr>
          <a:lstStyle/>
          <a:p>
            <a:pPr algn="ctr"/>
            <a:r>
              <a:rPr lang="id-ID" sz="2000" b="1" dirty="0">
                <a:solidFill>
                  <a:srgbClr val="E8DED0"/>
                </a:solidFill>
                <a:latin typeface="Cooper BT Light" panose="020B0604020202020204" charset="0"/>
              </a:rPr>
              <a:t>Data Preparation</a:t>
            </a:r>
          </a:p>
        </p:txBody>
      </p:sp>
      <p:sp>
        <p:nvSpPr>
          <p:cNvPr id="71" name="TextBox 70">
            <a:extLst>
              <a:ext uri="{FF2B5EF4-FFF2-40B4-BE49-F238E27FC236}">
                <a16:creationId xmlns:a16="http://schemas.microsoft.com/office/drawing/2014/main" id="{A4859454-4F82-46EB-B83C-BD78F9568AA2}"/>
              </a:ext>
            </a:extLst>
          </p:cNvPr>
          <p:cNvSpPr txBox="1"/>
          <p:nvPr/>
        </p:nvSpPr>
        <p:spPr>
          <a:xfrm>
            <a:off x="11642309" y="4762500"/>
            <a:ext cx="2149891" cy="400110"/>
          </a:xfrm>
          <a:prstGeom prst="rect">
            <a:avLst/>
          </a:prstGeom>
          <a:noFill/>
        </p:spPr>
        <p:txBody>
          <a:bodyPr wrap="square">
            <a:spAutoFit/>
          </a:bodyPr>
          <a:lstStyle/>
          <a:p>
            <a:pPr algn="ctr"/>
            <a:r>
              <a:rPr lang="id-ID" sz="2000" b="1" dirty="0">
                <a:solidFill>
                  <a:srgbClr val="E8DED0"/>
                </a:solidFill>
              </a:rPr>
              <a:t>Modeling</a:t>
            </a:r>
          </a:p>
        </p:txBody>
      </p:sp>
      <p:sp>
        <p:nvSpPr>
          <p:cNvPr id="73" name="TextBox 72">
            <a:extLst>
              <a:ext uri="{FF2B5EF4-FFF2-40B4-BE49-F238E27FC236}">
                <a16:creationId xmlns:a16="http://schemas.microsoft.com/office/drawing/2014/main" id="{061F6396-2705-47A6-B1D9-04F0B2EABDDE}"/>
              </a:ext>
            </a:extLst>
          </p:cNvPr>
          <p:cNvSpPr txBox="1"/>
          <p:nvPr/>
        </p:nvSpPr>
        <p:spPr>
          <a:xfrm>
            <a:off x="15475120" y="4724424"/>
            <a:ext cx="1822280" cy="400110"/>
          </a:xfrm>
          <a:prstGeom prst="rect">
            <a:avLst/>
          </a:prstGeom>
          <a:noFill/>
        </p:spPr>
        <p:txBody>
          <a:bodyPr wrap="square">
            <a:spAutoFit/>
          </a:bodyPr>
          <a:lstStyle/>
          <a:p>
            <a:pPr algn="ctr"/>
            <a:r>
              <a:rPr lang="id-ID" sz="2000" b="1" dirty="0">
                <a:solidFill>
                  <a:srgbClr val="E8DED0"/>
                </a:solidFill>
                <a:latin typeface="Cooper BT Light" panose="020B0604020202020204" charset="0"/>
              </a:rPr>
              <a:t>Evaluation</a:t>
            </a:r>
          </a:p>
        </p:txBody>
      </p:sp>
      <p:sp>
        <p:nvSpPr>
          <p:cNvPr id="75" name="TextBox 74">
            <a:extLst>
              <a:ext uri="{FF2B5EF4-FFF2-40B4-BE49-F238E27FC236}">
                <a16:creationId xmlns:a16="http://schemas.microsoft.com/office/drawing/2014/main" id="{07DC173F-7337-4C6A-A8F0-D4987673914F}"/>
              </a:ext>
            </a:extLst>
          </p:cNvPr>
          <p:cNvSpPr txBox="1"/>
          <p:nvPr/>
        </p:nvSpPr>
        <p:spPr>
          <a:xfrm>
            <a:off x="4112886" y="5628025"/>
            <a:ext cx="2745114" cy="3477875"/>
          </a:xfrm>
          <a:prstGeom prst="rect">
            <a:avLst/>
          </a:prstGeom>
          <a:noFill/>
        </p:spPr>
        <p:txBody>
          <a:bodyPr wrap="square">
            <a:spAutoFit/>
          </a:bodyPr>
          <a:lstStyle/>
          <a:p>
            <a:pPr algn="ctr"/>
            <a:r>
              <a:rPr lang="id-ID" sz="2000" dirty="0">
                <a:solidFill>
                  <a:srgbClr val="9D4946"/>
                </a:solidFill>
                <a:latin typeface="Cooper BT Light" panose="020B0604020202020204" charset="0"/>
              </a:rPr>
              <a:t>Pada tahap ini dilakukan pemahaman terhadap data ulasan produk Tokopedia yang berasal dari </a:t>
            </a:r>
            <a:r>
              <a:rPr lang="id-ID" sz="2000" b="1" dirty="0">
                <a:solidFill>
                  <a:srgbClr val="9D4946"/>
                </a:solidFill>
                <a:latin typeface="Cooper BT Light" panose="020B0604020202020204" charset="0"/>
              </a:rPr>
              <a:t>Tokopedia Product Reviews 2019</a:t>
            </a:r>
            <a:r>
              <a:rPr lang="id-ID" sz="2000" dirty="0">
                <a:solidFill>
                  <a:srgbClr val="9D4946"/>
                </a:solidFill>
                <a:latin typeface="Cooper BT Light" panose="020B0604020202020204" charset="0"/>
              </a:rPr>
              <a:t> melalui platform </a:t>
            </a:r>
            <a:r>
              <a:rPr lang="id-ID" sz="2000" b="1" dirty="0">
                <a:solidFill>
                  <a:srgbClr val="9D4946"/>
                </a:solidFill>
                <a:latin typeface="Cooper BT Light" panose="020B0604020202020204" charset="0"/>
              </a:rPr>
              <a:t>HuggingFace</a:t>
            </a:r>
            <a:r>
              <a:rPr lang="id-ID" sz="2000" dirty="0">
                <a:solidFill>
                  <a:srgbClr val="9D4946"/>
                </a:solidFill>
                <a:latin typeface="Cooper BT Light" panose="020B0604020202020204" charset="0"/>
              </a:rPr>
              <a:t> sebagai dasar analisis sentimen.</a:t>
            </a:r>
          </a:p>
        </p:txBody>
      </p:sp>
      <p:sp>
        <p:nvSpPr>
          <p:cNvPr id="77" name="TextBox 76">
            <a:extLst>
              <a:ext uri="{FF2B5EF4-FFF2-40B4-BE49-F238E27FC236}">
                <a16:creationId xmlns:a16="http://schemas.microsoft.com/office/drawing/2014/main" id="{5AC81BB7-C563-4934-932A-4A3461FD9D0F}"/>
              </a:ext>
            </a:extLst>
          </p:cNvPr>
          <p:cNvSpPr txBox="1"/>
          <p:nvPr/>
        </p:nvSpPr>
        <p:spPr>
          <a:xfrm>
            <a:off x="7903991" y="5676900"/>
            <a:ext cx="2306809" cy="3785652"/>
          </a:xfrm>
          <a:prstGeom prst="rect">
            <a:avLst/>
          </a:prstGeom>
          <a:noFill/>
        </p:spPr>
        <p:txBody>
          <a:bodyPr wrap="square">
            <a:spAutoFit/>
          </a:bodyPr>
          <a:lstStyle/>
          <a:p>
            <a:pPr algn="ctr"/>
            <a:r>
              <a:rPr lang="id-ID" sz="2000" dirty="0">
                <a:solidFill>
                  <a:srgbClr val="9D4946"/>
                </a:solidFill>
                <a:latin typeface="Cooper BT Light" panose="020B0604020202020204" charset="0"/>
              </a:rPr>
              <a:t>Tahap </a:t>
            </a:r>
            <a:r>
              <a:rPr lang="id-ID" sz="2000" i="1" dirty="0">
                <a:solidFill>
                  <a:srgbClr val="9D4946"/>
                </a:solidFill>
                <a:latin typeface="Cooper BT Light" panose="020B0604020202020204" charset="0"/>
              </a:rPr>
              <a:t>data preparation</a:t>
            </a:r>
            <a:r>
              <a:rPr lang="id-ID" sz="2000" dirty="0">
                <a:solidFill>
                  <a:srgbClr val="9D4946"/>
                </a:solidFill>
                <a:latin typeface="Cooper BT Light" panose="020B0604020202020204" charset="0"/>
              </a:rPr>
              <a:t> meliputi pemilihan dan pelabelan data, </a:t>
            </a:r>
            <a:r>
              <a:rPr lang="id-ID" sz="2000" i="1" dirty="0">
                <a:solidFill>
                  <a:srgbClr val="9D4946"/>
                </a:solidFill>
                <a:latin typeface="Cooper BT Light" panose="020B0604020202020204" charset="0"/>
              </a:rPr>
              <a:t>random sampling</a:t>
            </a:r>
            <a:r>
              <a:rPr lang="id-ID" sz="2000" dirty="0">
                <a:solidFill>
                  <a:srgbClr val="9D4946"/>
                </a:solidFill>
                <a:latin typeface="Cooper BT Light" panose="020B0604020202020204" charset="0"/>
              </a:rPr>
              <a:t> menjadi 699 ulasan, </a:t>
            </a:r>
            <a:r>
              <a:rPr lang="id-ID" sz="2000" i="1" dirty="0">
                <a:solidFill>
                  <a:srgbClr val="9D4946"/>
                </a:solidFill>
                <a:latin typeface="Cooper BT Light" panose="020B0604020202020204" charset="0"/>
              </a:rPr>
              <a:t>text preprocessing</a:t>
            </a:r>
            <a:r>
              <a:rPr lang="id-ID" sz="2000" dirty="0">
                <a:solidFill>
                  <a:srgbClr val="9D4946"/>
                </a:solidFill>
                <a:latin typeface="Cooper BT Light" panose="020B0604020202020204" charset="0"/>
              </a:rPr>
              <a:t>, serta representasi fitur </a:t>
            </a:r>
            <a:r>
              <a:rPr lang="id-ID" sz="2000" b="1" dirty="0">
                <a:solidFill>
                  <a:srgbClr val="9D4946"/>
                </a:solidFill>
                <a:latin typeface="Cooper BT Light" panose="020B0604020202020204" charset="0"/>
              </a:rPr>
              <a:t>TF-IDF</a:t>
            </a:r>
            <a:r>
              <a:rPr lang="id-ID" sz="2000" dirty="0">
                <a:solidFill>
                  <a:srgbClr val="9D4946"/>
                </a:solidFill>
                <a:latin typeface="Cooper BT Light" panose="020B0604020202020204" charset="0"/>
              </a:rPr>
              <a:t> menggunakan </a:t>
            </a:r>
            <a:r>
              <a:rPr lang="id-ID" sz="2000" b="1" dirty="0">
                <a:solidFill>
                  <a:srgbClr val="9D4946"/>
                </a:solidFill>
                <a:latin typeface="Cooper BT Light" panose="020B0604020202020204" charset="0"/>
              </a:rPr>
              <a:t>WEKA</a:t>
            </a:r>
            <a:r>
              <a:rPr lang="id-ID" sz="2000" dirty="0">
                <a:solidFill>
                  <a:srgbClr val="9D4946"/>
                </a:solidFill>
                <a:latin typeface="Cooper BT Light" panose="020B0604020202020204" charset="0"/>
              </a:rPr>
              <a:t>.</a:t>
            </a:r>
          </a:p>
        </p:txBody>
      </p:sp>
      <p:sp>
        <p:nvSpPr>
          <p:cNvPr id="79" name="TextBox 78">
            <a:extLst>
              <a:ext uri="{FF2B5EF4-FFF2-40B4-BE49-F238E27FC236}">
                <a16:creationId xmlns:a16="http://schemas.microsoft.com/office/drawing/2014/main" id="{1905DEEC-6587-4EE0-93DA-6C6F0F4EC742}"/>
              </a:ext>
            </a:extLst>
          </p:cNvPr>
          <p:cNvSpPr txBox="1"/>
          <p:nvPr/>
        </p:nvSpPr>
        <p:spPr>
          <a:xfrm>
            <a:off x="11507329" y="5783401"/>
            <a:ext cx="2437271" cy="3170099"/>
          </a:xfrm>
          <a:prstGeom prst="rect">
            <a:avLst/>
          </a:prstGeom>
          <a:noFill/>
        </p:spPr>
        <p:txBody>
          <a:bodyPr wrap="square">
            <a:spAutoFit/>
          </a:bodyPr>
          <a:lstStyle/>
          <a:p>
            <a:pPr algn="ctr"/>
            <a:r>
              <a:rPr lang="id-ID" sz="2000" dirty="0">
                <a:solidFill>
                  <a:srgbClr val="9D4946"/>
                </a:solidFill>
                <a:latin typeface="Cooper BT Light" panose="020B0604020202020204" charset="0"/>
              </a:rPr>
              <a:t>Pada tahap </a:t>
            </a:r>
            <a:r>
              <a:rPr lang="id-ID" sz="2000" i="1" dirty="0">
                <a:solidFill>
                  <a:srgbClr val="9D4946"/>
                </a:solidFill>
                <a:latin typeface="Cooper BT Light" panose="020B0604020202020204" charset="0"/>
              </a:rPr>
              <a:t>modeling</a:t>
            </a:r>
            <a:r>
              <a:rPr lang="id-ID" sz="2000" dirty="0">
                <a:solidFill>
                  <a:srgbClr val="9D4946"/>
                </a:solidFill>
                <a:latin typeface="Cooper BT Light" panose="020B0604020202020204" charset="0"/>
              </a:rPr>
              <a:t>, algoritma </a:t>
            </a:r>
            <a:r>
              <a:rPr lang="id-ID" sz="2000" b="1" dirty="0">
                <a:solidFill>
                  <a:srgbClr val="9D4946"/>
                </a:solidFill>
                <a:latin typeface="Cooper BT Light" panose="020B0604020202020204" charset="0"/>
              </a:rPr>
              <a:t>Naive Bayes</a:t>
            </a:r>
            <a:r>
              <a:rPr lang="id-ID" sz="2000" dirty="0">
                <a:solidFill>
                  <a:srgbClr val="9D4946"/>
                </a:solidFill>
                <a:latin typeface="Cooper BT Light" panose="020B0604020202020204" charset="0"/>
              </a:rPr>
              <a:t> digunakan untuk membangun model klasifikasi sentimen dan diuji menggunakan </a:t>
            </a:r>
            <a:r>
              <a:rPr lang="id-ID" sz="2000" b="1" dirty="0">
                <a:solidFill>
                  <a:srgbClr val="9D4946"/>
                </a:solidFill>
                <a:latin typeface="Cooper BT Light" panose="020B0604020202020204" charset="0"/>
              </a:rPr>
              <a:t>10-fold cross-validation</a:t>
            </a:r>
            <a:r>
              <a:rPr lang="id-ID" sz="2000" dirty="0">
                <a:solidFill>
                  <a:srgbClr val="9D4946"/>
                </a:solidFill>
                <a:latin typeface="Cooper BT Light" panose="020B0604020202020204" charset="0"/>
              </a:rPr>
              <a:t>.</a:t>
            </a:r>
          </a:p>
        </p:txBody>
      </p:sp>
      <p:sp>
        <p:nvSpPr>
          <p:cNvPr id="81" name="TextBox 80">
            <a:extLst>
              <a:ext uri="{FF2B5EF4-FFF2-40B4-BE49-F238E27FC236}">
                <a16:creationId xmlns:a16="http://schemas.microsoft.com/office/drawing/2014/main" id="{5EA9CD1E-E4C6-4230-9F36-BB74AC9C8950}"/>
              </a:ext>
            </a:extLst>
          </p:cNvPr>
          <p:cNvSpPr txBox="1"/>
          <p:nvPr/>
        </p:nvSpPr>
        <p:spPr>
          <a:xfrm>
            <a:off x="15392400" y="5829300"/>
            <a:ext cx="2144573" cy="2862322"/>
          </a:xfrm>
          <a:prstGeom prst="rect">
            <a:avLst/>
          </a:prstGeom>
          <a:noFill/>
        </p:spPr>
        <p:txBody>
          <a:bodyPr wrap="square">
            <a:spAutoFit/>
          </a:bodyPr>
          <a:lstStyle/>
          <a:p>
            <a:pPr algn="ctr"/>
            <a:r>
              <a:rPr lang="id-ID" sz="2000" dirty="0">
                <a:solidFill>
                  <a:srgbClr val="9D4946"/>
                </a:solidFill>
                <a:latin typeface="Cooper BT Light" panose="020B0604020202020204" charset="0"/>
              </a:rPr>
              <a:t>Tahap </a:t>
            </a:r>
            <a:r>
              <a:rPr lang="id-ID" sz="2000" i="1" dirty="0">
                <a:solidFill>
                  <a:srgbClr val="9D4946"/>
                </a:solidFill>
                <a:latin typeface="Cooper BT Light" panose="020B0604020202020204" charset="0"/>
              </a:rPr>
              <a:t>evaluation</a:t>
            </a:r>
            <a:r>
              <a:rPr lang="id-ID" sz="2000" dirty="0">
                <a:solidFill>
                  <a:srgbClr val="9D4946"/>
                </a:solidFill>
                <a:latin typeface="Cooper BT Light" panose="020B0604020202020204" charset="0"/>
              </a:rPr>
              <a:t> menilai performa model Naive Bayes menggunakan metrik </a:t>
            </a:r>
            <a:r>
              <a:rPr lang="id-ID" sz="2000" b="1" dirty="0">
                <a:solidFill>
                  <a:srgbClr val="9D4946"/>
                </a:solidFill>
                <a:latin typeface="Cooper BT Light" panose="020B0604020202020204" charset="0"/>
              </a:rPr>
              <a:t>akurasi, precision, recall, F1-score</a:t>
            </a:r>
            <a:r>
              <a:rPr lang="id-ID" sz="2000" dirty="0">
                <a:solidFill>
                  <a:srgbClr val="9D4946"/>
                </a:solidFill>
                <a:latin typeface="Cooper BT Light" panose="020B0604020202020204" charset="0"/>
              </a:rPr>
              <a:t>, dan </a:t>
            </a:r>
            <a:r>
              <a:rPr lang="id-ID" sz="2000" b="1" dirty="0">
                <a:solidFill>
                  <a:srgbClr val="9D4946"/>
                </a:solidFill>
                <a:latin typeface="Cooper BT Light" panose="020B0604020202020204" charset="0"/>
              </a:rPr>
              <a:t>confusion matrix</a:t>
            </a:r>
            <a:r>
              <a:rPr lang="id-ID" sz="2000" dirty="0">
                <a:solidFill>
                  <a:srgbClr val="9D4946"/>
                </a:solidFill>
                <a:latin typeface="Cooper BT Light" panose="020B0604020202020204" charset="0"/>
              </a:rPr>
              <a: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3"/>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grpSp>
        <p:nvGrpSpPr>
          <p:cNvPr id="15" name="Group 15"/>
          <p:cNvGrpSpPr/>
          <p:nvPr/>
        </p:nvGrpSpPr>
        <p:grpSpPr>
          <a:xfrm>
            <a:off x="1588925" y="3621210"/>
            <a:ext cx="4659475" cy="2576053"/>
            <a:chOff x="0" y="0"/>
            <a:chExt cx="1102623" cy="609600"/>
          </a:xfrm>
        </p:grpSpPr>
        <p:sp>
          <p:nvSpPr>
            <p:cNvPr id="16" name="Freeform 16"/>
            <p:cNvSpPr/>
            <p:nvPr/>
          </p:nvSpPr>
          <p:spPr>
            <a:xfrm>
              <a:off x="13919" y="0"/>
              <a:ext cx="1074785" cy="609600"/>
            </a:xfrm>
            <a:custGeom>
              <a:avLst/>
              <a:gdLst/>
              <a:ahLst/>
              <a:cxnLst/>
              <a:rect l="l" t="t" r="r" b="b"/>
              <a:pathLst>
                <a:path w="1074785" h="609600">
                  <a:moveTo>
                    <a:pt x="239127" y="0"/>
                  </a:moveTo>
                  <a:lnTo>
                    <a:pt x="1038858" y="0"/>
                  </a:lnTo>
                  <a:cubicBezTo>
                    <a:pt x="1050406" y="0"/>
                    <a:pt x="1061251" y="5552"/>
                    <a:pt x="1068003" y="14920"/>
                  </a:cubicBezTo>
                  <a:cubicBezTo>
                    <a:pt x="1074756" y="24289"/>
                    <a:pt x="1076593" y="36332"/>
                    <a:pt x="1072941" y="47288"/>
                  </a:cubicBezTo>
                  <a:lnTo>
                    <a:pt x="901267" y="562312"/>
                  </a:lnTo>
                  <a:cubicBezTo>
                    <a:pt x="891854" y="590552"/>
                    <a:pt x="865425" y="609600"/>
                    <a:pt x="835658" y="609600"/>
                  </a:cubicBezTo>
                  <a:lnTo>
                    <a:pt x="35927" y="609600"/>
                  </a:lnTo>
                  <a:cubicBezTo>
                    <a:pt x="24379" y="609600"/>
                    <a:pt x="13534" y="604048"/>
                    <a:pt x="6782" y="594680"/>
                  </a:cubicBezTo>
                  <a:cubicBezTo>
                    <a:pt x="29" y="585311"/>
                    <a:pt x="-1808" y="573268"/>
                    <a:pt x="1844" y="562312"/>
                  </a:cubicBezTo>
                  <a:lnTo>
                    <a:pt x="173518" y="47288"/>
                  </a:lnTo>
                  <a:cubicBezTo>
                    <a:pt x="182932" y="19048"/>
                    <a:pt x="209360" y="0"/>
                    <a:pt x="239127" y="0"/>
                  </a:cubicBezTo>
                  <a:close/>
                </a:path>
              </a:pathLst>
            </a:custGeom>
            <a:solidFill>
              <a:srgbClr val="861A1A"/>
            </a:solidFill>
          </p:spPr>
          <p:txBody>
            <a:bodyPr/>
            <a:lstStyle/>
            <a:p>
              <a:endParaRPr lang="id-ID"/>
            </a:p>
          </p:txBody>
        </p:sp>
        <p:sp>
          <p:nvSpPr>
            <p:cNvPr id="17" name="TextBox 17"/>
            <p:cNvSpPr txBox="1"/>
            <p:nvPr/>
          </p:nvSpPr>
          <p:spPr>
            <a:xfrm>
              <a:off x="101600" y="-38100"/>
              <a:ext cx="899423" cy="647700"/>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09</a:t>
            </a:r>
          </a:p>
        </p:txBody>
      </p:sp>
      <p:sp>
        <p:nvSpPr>
          <p:cNvPr id="19" name="TextBox 19"/>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20" name="TextBox 20"/>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21" name="TextBox 21"/>
          <p:cNvSpPr txBox="1"/>
          <p:nvPr/>
        </p:nvSpPr>
        <p:spPr>
          <a:xfrm>
            <a:off x="5093582" y="2006722"/>
            <a:ext cx="8100836" cy="1184275"/>
          </a:xfrm>
          <a:prstGeom prst="rect">
            <a:avLst/>
          </a:prstGeom>
        </p:spPr>
        <p:txBody>
          <a:bodyPr lIns="0" tIns="0" rIns="0" bIns="0" rtlCol="0" anchor="t">
            <a:spAutoFit/>
          </a:bodyPr>
          <a:lstStyle/>
          <a:p>
            <a:pPr algn="ctr">
              <a:lnSpc>
                <a:spcPts val="9799"/>
              </a:lnSpc>
            </a:pPr>
            <a:r>
              <a:rPr lang="en-US" sz="6999" dirty="0" err="1">
                <a:solidFill>
                  <a:srgbClr val="861A1A"/>
                </a:solidFill>
                <a:latin typeface="Cooper BT Light"/>
                <a:ea typeface="Cooper BT Light"/>
                <a:cs typeface="Cooper BT Light"/>
                <a:sym typeface="Cooper BT Light"/>
              </a:rPr>
              <a:t>Metode</a:t>
            </a:r>
            <a:r>
              <a:rPr lang="en-US" sz="6999" dirty="0">
                <a:solidFill>
                  <a:srgbClr val="861A1A"/>
                </a:solidFill>
                <a:latin typeface="Cooper BT Light"/>
                <a:ea typeface="Cooper BT Light"/>
                <a:cs typeface="Cooper BT Light"/>
                <a:sym typeface="Cooper BT Light"/>
              </a:rPr>
              <a:t> </a:t>
            </a:r>
            <a:r>
              <a:rPr lang="en-US" sz="6999" dirty="0" err="1">
                <a:solidFill>
                  <a:srgbClr val="861A1A"/>
                </a:solidFill>
                <a:latin typeface="Cooper BT Light"/>
                <a:ea typeface="Cooper BT Light"/>
                <a:cs typeface="Cooper BT Light"/>
                <a:sym typeface="Cooper BT Light"/>
              </a:rPr>
              <a:t>Klasifikasi</a:t>
            </a:r>
            <a:endParaRPr lang="en-US" sz="6999" dirty="0">
              <a:solidFill>
                <a:srgbClr val="861A1A"/>
              </a:solidFill>
              <a:latin typeface="Cooper BT Light"/>
              <a:ea typeface="Cooper BT Light"/>
              <a:cs typeface="Cooper BT Light"/>
              <a:sym typeface="Cooper BT Light"/>
            </a:endParaRPr>
          </a:p>
        </p:txBody>
      </p:sp>
      <p:grpSp>
        <p:nvGrpSpPr>
          <p:cNvPr id="22" name="Group 22"/>
          <p:cNvGrpSpPr/>
          <p:nvPr/>
        </p:nvGrpSpPr>
        <p:grpSpPr>
          <a:xfrm>
            <a:off x="5932325" y="3621210"/>
            <a:ext cx="4659475" cy="2576053"/>
            <a:chOff x="0" y="0"/>
            <a:chExt cx="1102623" cy="609600"/>
          </a:xfrm>
        </p:grpSpPr>
        <p:sp>
          <p:nvSpPr>
            <p:cNvPr id="23" name="Freeform 23"/>
            <p:cNvSpPr/>
            <p:nvPr/>
          </p:nvSpPr>
          <p:spPr>
            <a:xfrm>
              <a:off x="13919" y="0"/>
              <a:ext cx="1074785" cy="609600"/>
            </a:xfrm>
            <a:custGeom>
              <a:avLst/>
              <a:gdLst/>
              <a:ahLst/>
              <a:cxnLst/>
              <a:rect l="l" t="t" r="r" b="b"/>
              <a:pathLst>
                <a:path w="1074785" h="609600">
                  <a:moveTo>
                    <a:pt x="239127" y="0"/>
                  </a:moveTo>
                  <a:lnTo>
                    <a:pt x="1038858" y="0"/>
                  </a:lnTo>
                  <a:cubicBezTo>
                    <a:pt x="1050406" y="0"/>
                    <a:pt x="1061251" y="5552"/>
                    <a:pt x="1068003" y="14920"/>
                  </a:cubicBezTo>
                  <a:cubicBezTo>
                    <a:pt x="1074756" y="24289"/>
                    <a:pt x="1076593" y="36332"/>
                    <a:pt x="1072941" y="47288"/>
                  </a:cubicBezTo>
                  <a:lnTo>
                    <a:pt x="901267" y="562312"/>
                  </a:lnTo>
                  <a:cubicBezTo>
                    <a:pt x="891854" y="590552"/>
                    <a:pt x="865425" y="609600"/>
                    <a:pt x="835658" y="609600"/>
                  </a:cubicBezTo>
                  <a:lnTo>
                    <a:pt x="35927" y="609600"/>
                  </a:lnTo>
                  <a:cubicBezTo>
                    <a:pt x="24379" y="609600"/>
                    <a:pt x="13534" y="604048"/>
                    <a:pt x="6782" y="594680"/>
                  </a:cubicBezTo>
                  <a:cubicBezTo>
                    <a:pt x="29" y="585311"/>
                    <a:pt x="-1808" y="573268"/>
                    <a:pt x="1844" y="562312"/>
                  </a:cubicBezTo>
                  <a:lnTo>
                    <a:pt x="173518" y="47288"/>
                  </a:lnTo>
                  <a:cubicBezTo>
                    <a:pt x="182932" y="19048"/>
                    <a:pt x="209360" y="0"/>
                    <a:pt x="239127" y="0"/>
                  </a:cubicBezTo>
                  <a:close/>
                </a:path>
              </a:pathLst>
            </a:custGeom>
            <a:solidFill>
              <a:srgbClr val="A57545"/>
            </a:solidFill>
          </p:spPr>
          <p:txBody>
            <a:bodyPr/>
            <a:lstStyle/>
            <a:p>
              <a:endParaRPr lang="id-ID" dirty="0"/>
            </a:p>
          </p:txBody>
        </p:sp>
        <p:sp>
          <p:nvSpPr>
            <p:cNvPr id="24" name="TextBox 24"/>
            <p:cNvSpPr txBox="1"/>
            <p:nvPr/>
          </p:nvSpPr>
          <p:spPr>
            <a:xfrm>
              <a:off x="101600" y="-38100"/>
              <a:ext cx="899423" cy="647700"/>
            </a:xfrm>
            <a:prstGeom prst="rect">
              <a:avLst/>
            </a:prstGeom>
          </p:spPr>
          <p:txBody>
            <a:bodyPr lIns="50800" tIns="50800" rIns="50800" bIns="50800" rtlCol="0" anchor="ctr"/>
            <a:lstStyle/>
            <a:p>
              <a:pPr algn="ctr">
                <a:lnSpc>
                  <a:spcPts val="2659"/>
                </a:lnSpc>
              </a:pPr>
              <a:endParaRPr/>
            </a:p>
          </p:txBody>
        </p:sp>
      </p:grpSp>
      <p:grpSp>
        <p:nvGrpSpPr>
          <p:cNvPr id="25" name="Group 25"/>
          <p:cNvGrpSpPr/>
          <p:nvPr/>
        </p:nvGrpSpPr>
        <p:grpSpPr>
          <a:xfrm>
            <a:off x="10104856" y="3621210"/>
            <a:ext cx="4659475" cy="2576053"/>
            <a:chOff x="0" y="0"/>
            <a:chExt cx="1102623" cy="609600"/>
          </a:xfrm>
        </p:grpSpPr>
        <p:sp>
          <p:nvSpPr>
            <p:cNvPr id="26" name="Freeform 26"/>
            <p:cNvSpPr/>
            <p:nvPr/>
          </p:nvSpPr>
          <p:spPr>
            <a:xfrm>
              <a:off x="13919" y="0"/>
              <a:ext cx="1074785" cy="609600"/>
            </a:xfrm>
            <a:custGeom>
              <a:avLst/>
              <a:gdLst/>
              <a:ahLst/>
              <a:cxnLst/>
              <a:rect l="l" t="t" r="r" b="b"/>
              <a:pathLst>
                <a:path w="1074785" h="609600">
                  <a:moveTo>
                    <a:pt x="239127" y="0"/>
                  </a:moveTo>
                  <a:lnTo>
                    <a:pt x="1038858" y="0"/>
                  </a:lnTo>
                  <a:cubicBezTo>
                    <a:pt x="1050406" y="0"/>
                    <a:pt x="1061251" y="5552"/>
                    <a:pt x="1068003" y="14920"/>
                  </a:cubicBezTo>
                  <a:cubicBezTo>
                    <a:pt x="1074756" y="24289"/>
                    <a:pt x="1076593" y="36332"/>
                    <a:pt x="1072941" y="47288"/>
                  </a:cubicBezTo>
                  <a:lnTo>
                    <a:pt x="901267" y="562312"/>
                  </a:lnTo>
                  <a:cubicBezTo>
                    <a:pt x="891854" y="590552"/>
                    <a:pt x="865425" y="609600"/>
                    <a:pt x="835658" y="609600"/>
                  </a:cubicBezTo>
                  <a:lnTo>
                    <a:pt x="35927" y="609600"/>
                  </a:lnTo>
                  <a:cubicBezTo>
                    <a:pt x="24379" y="609600"/>
                    <a:pt x="13534" y="604048"/>
                    <a:pt x="6782" y="594680"/>
                  </a:cubicBezTo>
                  <a:cubicBezTo>
                    <a:pt x="29" y="585311"/>
                    <a:pt x="-1808" y="573268"/>
                    <a:pt x="1844" y="562312"/>
                  </a:cubicBezTo>
                  <a:lnTo>
                    <a:pt x="173518" y="47288"/>
                  </a:lnTo>
                  <a:cubicBezTo>
                    <a:pt x="182932" y="19048"/>
                    <a:pt x="209360" y="0"/>
                    <a:pt x="239127" y="0"/>
                  </a:cubicBezTo>
                  <a:close/>
                </a:path>
              </a:pathLst>
            </a:custGeom>
            <a:solidFill>
              <a:srgbClr val="BB8B52"/>
            </a:solidFill>
          </p:spPr>
        </p:sp>
        <p:sp>
          <p:nvSpPr>
            <p:cNvPr id="27" name="TextBox 27"/>
            <p:cNvSpPr txBox="1"/>
            <p:nvPr/>
          </p:nvSpPr>
          <p:spPr>
            <a:xfrm>
              <a:off x="101600" y="-38100"/>
              <a:ext cx="899423" cy="647700"/>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2533981" y="3647197"/>
            <a:ext cx="2952419" cy="679450"/>
          </a:xfrm>
          <a:prstGeom prst="rect">
            <a:avLst/>
          </a:prstGeom>
        </p:spPr>
        <p:txBody>
          <a:bodyPr lIns="0" tIns="0" rIns="0" bIns="0" rtlCol="0" anchor="t">
            <a:spAutoFit/>
          </a:bodyPr>
          <a:lstStyle/>
          <a:p>
            <a:pPr algn="ctr">
              <a:lnSpc>
                <a:spcPts val="5599"/>
              </a:lnSpc>
            </a:pPr>
            <a:r>
              <a:rPr lang="en-US" sz="3999" b="1" dirty="0" err="1">
                <a:solidFill>
                  <a:srgbClr val="E8DED0"/>
                </a:solidFill>
                <a:latin typeface="Cooper BT Bold"/>
                <a:ea typeface="Cooper BT Bold"/>
                <a:cs typeface="Cooper BT Bold"/>
                <a:sym typeface="Cooper BT Bold"/>
              </a:rPr>
              <a:t>Algoritma</a:t>
            </a:r>
            <a:r>
              <a:rPr lang="en-US" sz="3999" b="1" dirty="0">
                <a:solidFill>
                  <a:srgbClr val="E8DED0"/>
                </a:solidFill>
                <a:latin typeface="Cooper BT Bold"/>
                <a:ea typeface="Cooper BT Bold"/>
                <a:cs typeface="Cooper BT Bold"/>
                <a:sym typeface="Cooper BT Bold"/>
              </a:rPr>
              <a:t> </a:t>
            </a:r>
          </a:p>
        </p:txBody>
      </p:sp>
      <p:sp>
        <p:nvSpPr>
          <p:cNvPr id="32" name="TextBox 32"/>
          <p:cNvSpPr txBox="1"/>
          <p:nvPr/>
        </p:nvSpPr>
        <p:spPr>
          <a:xfrm>
            <a:off x="6877381" y="3687800"/>
            <a:ext cx="2952419" cy="679450"/>
          </a:xfrm>
          <a:prstGeom prst="rect">
            <a:avLst/>
          </a:prstGeom>
        </p:spPr>
        <p:txBody>
          <a:bodyPr lIns="0" tIns="0" rIns="0" bIns="0" rtlCol="0" anchor="t">
            <a:spAutoFit/>
          </a:bodyPr>
          <a:lstStyle/>
          <a:p>
            <a:pPr algn="ctr">
              <a:lnSpc>
                <a:spcPts val="5599"/>
              </a:lnSpc>
            </a:pPr>
            <a:r>
              <a:rPr lang="en-US" sz="3999" b="1" dirty="0">
                <a:solidFill>
                  <a:srgbClr val="E8DED0"/>
                </a:solidFill>
                <a:latin typeface="Cooper BT Bold"/>
                <a:ea typeface="Cooper BT Bold"/>
                <a:cs typeface="Cooper BT Bold"/>
                <a:sym typeface="Cooper BT Bold"/>
              </a:rPr>
              <a:t>Tools</a:t>
            </a:r>
          </a:p>
        </p:txBody>
      </p:sp>
      <p:sp>
        <p:nvSpPr>
          <p:cNvPr id="33" name="TextBox 33"/>
          <p:cNvSpPr txBox="1"/>
          <p:nvPr/>
        </p:nvSpPr>
        <p:spPr>
          <a:xfrm>
            <a:off x="11144581" y="3765260"/>
            <a:ext cx="2952419" cy="679450"/>
          </a:xfrm>
          <a:prstGeom prst="rect">
            <a:avLst/>
          </a:prstGeom>
        </p:spPr>
        <p:txBody>
          <a:bodyPr lIns="0" tIns="0" rIns="0" bIns="0" rtlCol="0" anchor="t">
            <a:spAutoFit/>
          </a:bodyPr>
          <a:lstStyle/>
          <a:p>
            <a:pPr algn="ctr">
              <a:lnSpc>
                <a:spcPts val="5599"/>
              </a:lnSpc>
            </a:pPr>
            <a:r>
              <a:rPr lang="en-US" sz="3999" b="1" dirty="0" err="1">
                <a:solidFill>
                  <a:srgbClr val="E8DED0"/>
                </a:solidFill>
                <a:latin typeface="Cooper BT Bold"/>
                <a:ea typeface="Cooper BT Bold"/>
                <a:cs typeface="Cooper BT Bold"/>
                <a:sym typeface="Cooper BT Bold"/>
              </a:rPr>
              <a:t>Pengujian</a:t>
            </a:r>
            <a:endParaRPr lang="en-US" sz="3999" b="1" dirty="0">
              <a:solidFill>
                <a:srgbClr val="E8DED0"/>
              </a:solidFill>
              <a:latin typeface="Cooper BT Bold"/>
              <a:ea typeface="Cooper BT Bold"/>
              <a:cs typeface="Cooper BT Bold"/>
              <a:sym typeface="Cooper BT Bold"/>
            </a:endParaRPr>
          </a:p>
        </p:txBody>
      </p:sp>
      <p:sp>
        <p:nvSpPr>
          <p:cNvPr id="36" name="TextBox 36"/>
          <p:cNvSpPr txBox="1"/>
          <p:nvPr/>
        </p:nvSpPr>
        <p:spPr>
          <a:xfrm>
            <a:off x="1649832" y="7318386"/>
            <a:ext cx="11036717" cy="1461939"/>
          </a:xfrm>
          <a:prstGeom prst="rect">
            <a:avLst/>
          </a:prstGeom>
        </p:spPr>
        <p:txBody>
          <a:bodyPr wrap="square" lIns="0" tIns="0" rIns="0" bIns="0" rtlCol="0" anchor="t">
            <a:spAutoFit/>
          </a:bodyPr>
          <a:lstStyle/>
          <a:p>
            <a:pPr algn="l">
              <a:lnSpc>
                <a:spcPts val="3780"/>
              </a:lnSpc>
            </a:pPr>
            <a:r>
              <a:rPr lang="en-US" sz="3200" dirty="0" err="1">
                <a:solidFill>
                  <a:srgbClr val="861A1A"/>
                </a:solidFill>
                <a:latin typeface="Cooper BT Light"/>
                <a:ea typeface="Cooper BT Light"/>
                <a:cs typeface="Cooper BT Light"/>
                <a:sym typeface="Cooper BT Light"/>
              </a:rPr>
              <a:t>Algoritma</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Klasifikasi</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berbasis</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probalistik</a:t>
            </a:r>
            <a:r>
              <a:rPr lang="en-US" sz="3200" dirty="0">
                <a:solidFill>
                  <a:srgbClr val="861A1A"/>
                </a:solidFill>
                <a:latin typeface="Cooper BT Light"/>
                <a:ea typeface="Cooper BT Light"/>
                <a:cs typeface="Cooper BT Light"/>
                <a:sym typeface="Cooper BT Light"/>
              </a:rPr>
              <a:t> yang </a:t>
            </a:r>
            <a:r>
              <a:rPr lang="en-US" sz="3200" dirty="0" err="1">
                <a:solidFill>
                  <a:srgbClr val="861A1A"/>
                </a:solidFill>
                <a:latin typeface="Cooper BT Light"/>
                <a:ea typeface="Cooper BT Light"/>
                <a:cs typeface="Cooper BT Light"/>
                <a:sym typeface="Cooper BT Light"/>
              </a:rPr>
              <a:t>menggunakan</a:t>
            </a:r>
            <a:r>
              <a:rPr lang="en-US" sz="3200" dirty="0">
                <a:solidFill>
                  <a:srgbClr val="861A1A"/>
                </a:solidFill>
                <a:latin typeface="Cooper BT Light"/>
                <a:ea typeface="Cooper BT Light"/>
                <a:cs typeface="Cooper BT Light"/>
                <a:sym typeface="Cooper BT Light"/>
              </a:rPr>
              <a:t> Torma Bayes, </a:t>
            </a:r>
            <a:r>
              <a:rPr lang="en-US" sz="3200" dirty="0" err="1">
                <a:solidFill>
                  <a:srgbClr val="861A1A"/>
                </a:solidFill>
                <a:latin typeface="Cooper BT Light"/>
                <a:ea typeface="Cooper BT Light"/>
                <a:cs typeface="Cooper BT Light"/>
                <a:sym typeface="Cooper BT Light"/>
              </a:rPr>
              <a:t>bersifat</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sederhana</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efisien</a:t>
            </a:r>
            <a:r>
              <a:rPr lang="en-US" sz="3200" dirty="0">
                <a:solidFill>
                  <a:srgbClr val="861A1A"/>
                </a:solidFill>
                <a:latin typeface="Cooper BT Light"/>
                <a:ea typeface="Cooper BT Light"/>
                <a:cs typeface="Cooper BT Light"/>
                <a:sym typeface="Cooper BT Light"/>
              </a:rPr>
              <a:t>, dan </a:t>
            </a:r>
            <a:r>
              <a:rPr lang="en-US" sz="3200" dirty="0" err="1">
                <a:solidFill>
                  <a:srgbClr val="861A1A"/>
                </a:solidFill>
                <a:latin typeface="Cooper BT Light"/>
                <a:ea typeface="Cooper BT Light"/>
                <a:cs typeface="Cooper BT Light"/>
                <a:sym typeface="Cooper BT Light"/>
              </a:rPr>
              <a:t>cocok</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untuk</a:t>
            </a:r>
            <a:r>
              <a:rPr lang="en-US" sz="3200" dirty="0">
                <a:solidFill>
                  <a:srgbClr val="861A1A"/>
                </a:solidFill>
                <a:latin typeface="Cooper BT Light"/>
                <a:ea typeface="Cooper BT Light"/>
                <a:cs typeface="Cooper BT Light"/>
                <a:sym typeface="Cooper BT Light"/>
              </a:rPr>
              <a:t> </a:t>
            </a:r>
            <a:r>
              <a:rPr lang="en-US" sz="3200" dirty="0" err="1">
                <a:solidFill>
                  <a:srgbClr val="861A1A"/>
                </a:solidFill>
                <a:latin typeface="Cooper BT Light"/>
                <a:ea typeface="Cooper BT Light"/>
                <a:cs typeface="Cooper BT Light"/>
                <a:sym typeface="Cooper BT Light"/>
              </a:rPr>
              <a:t>klasifikasi</a:t>
            </a:r>
            <a:r>
              <a:rPr lang="en-US" sz="3200" dirty="0">
                <a:solidFill>
                  <a:srgbClr val="861A1A"/>
                </a:solidFill>
                <a:latin typeface="Cooper BT Light"/>
                <a:ea typeface="Cooper BT Light"/>
                <a:cs typeface="Cooper BT Light"/>
                <a:sym typeface="Cooper BT Light"/>
              </a:rPr>
              <a:t> data </a:t>
            </a:r>
            <a:r>
              <a:rPr lang="en-US" sz="3200" dirty="0" err="1">
                <a:solidFill>
                  <a:srgbClr val="861A1A"/>
                </a:solidFill>
                <a:latin typeface="Cooper BT Light"/>
                <a:ea typeface="Cooper BT Light"/>
                <a:cs typeface="Cooper BT Light"/>
                <a:sym typeface="Cooper BT Light"/>
              </a:rPr>
              <a:t>teks</a:t>
            </a:r>
            <a:r>
              <a:rPr lang="en-US" sz="3200" dirty="0">
                <a:solidFill>
                  <a:srgbClr val="861A1A"/>
                </a:solidFill>
                <a:latin typeface="Cooper BT Light"/>
                <a:ea typeface="Cooper BT Light"/>
                <a:cs typeface="Cooper BT Light"/>
                <a:sym typeface="Cooper BT Light"/>
              </a:rPr>
              <a:t>.</a:t>
            </a:r>
          </a:p>
        </p:txBody>
      </p:sp>
      <p:sp>
        <p:nvSpPr>
          <p:cNvPr id="37" name="TextBox 37"/>
          <p:cNvSpPr txBox="1"/>
          <p:nvPr/>
        </p:nvSpPr>
        <p:spPr>
          <a:xfrm>
            <a:off x="1613737" y="6647419"/>
            <a:ext cx="2313755" cy="610295"/>
          </a:xfrm>
          <a:prstGeom prst="rect">
            <a:avLst/>
          </a:prstGeom>
        </p:spPr>
        <p:txBody>
          <a:bodyPr lIns="0" tIns="0" rIns="0" bIns="0" rtlCol="0" anchor="t">
            <a:spAutoFit/>
          </a:bodyPr>
          <a:lstStyle/>
          <a:p>
            <a:pPr algn="l">
              <a:lnSpc>
                <a:spcPts val="5179"/>
              </a:lnSpc>
            </a:pPr>
            <a:r>
              <a:rPr lang="en-US" sz="3699" b="1" dirty="0" err="1">
                <a:solidFill>
                  <a:srgbClr val="861A1A"/>
                </a:solidFill>
                <a:latin typeface="Cooper BT Bold"/>
                <a:ea typeface="Cooper BT Bold"/>
                <a:cs typeface="Cooper BT Bold"/>
                <a:sym typeface="Cooper BT Bold"/>
              </a:rPr>
              <a:t>Alasan</a:t>
            </a:r>
            <a:r>
              <a:rPr lang="en-US" sz="3699" b="1" dirty="0">
                <a:solidFill>
                  <a:srgbClr val="861A1A"/>
                </a:solidFill>
                <a:latin typeface="Cooper BT Bold"/>
                <a:ea typeface="Cooper BT Bold"/>
                <a:cs typeface="Cooper BT Bold"/>
                <a:sym typeface="Cooper BT Bold"/>
              </a:rPr>
              <a:t>:</a:t>
            </a:r>
          </a:p>
        </p:txBody>
      </p:sp>
      <p:sp>
        <p:nvSpPr>
          <p:cNvPr id="44" name="TextBox 43">
            <a:extLst>
              <a:ext uri="{FF2B5EF4-FFF2-40B4-BE49-F238E27FC236}">
                <a16:creationId xmlns:a16="http://schemas.microsoft.com/office/drawing/2014/main" id="{350F0C0D-DCB6-4DBB-BBA0-8235DBC9808B}"/>
              </a:ext>
            </a:extLst>
          </p:cNvPr>
          <p:cNvSpPr txBox="1"/>
          <p:nvPr/>
        </p:nvSpPr>
        <p:spPr>
          <a:xfrm>
            <a:off x="2494913" y="4717954"/>
            <a:ext cx="2762887" cy="584775"/>
          </a:xfrm>
          <a:prstGeom prst="rect">
            <a:avLst/>
          </a:prstGeom>
          <a:noFill/>
        </p:spPr>
        <p:txBody>
          <a:bodyPr wrap="square">
            <a:spAutoFit/>
          </a:bodyPr>
          <a:lstStyle/>
          <a:p>
            <a:pPr algn="ctr"/>
            <a:r>
              <a:rPr lang="id-ID" sz="3200" i="1" dirty="0">
                <a:solidFill>
                  <a:srgbClr val="E8DED0"/>
                </a:solidFill>
                <a:latin typeface="Cooper BT Light" panose="020B0604020202020204" charset="0"/>
              </a:rPr>
              <a:t>Naive Bayes</a:t>
            </a:r>
          </a:p>
        </p:txBody>
      </p:sp>
      <p:sp>
        <p:nvSpPr>
          <p:cNvPr id="46" name="TextBox 45">
            <a:extLst>
              <a:ext uri="{FF2B5EF4-FFF2-40B4-BE49-F238E27FC236}">
                <a16:creationId xmlns:a16="http://schemas.microsoft.com/office/drawing/2014/main" id="{BCB30FDD-B630-4B45-AAE6-6F355462434B}"/>
              </a:ext>
            </a:extLst>
          </p:cNvPr>
          <p:cNvSpPr txBox="1"/>
          <p:nvPr/>
        </p:nvSpPr>
        <p:spPr>
          <a:xfrm>
            <a:off x="10601342" y="4686300"/>
            <a:ext cx="3495658" cy="1077218"/>
          </a:xfrm>
          <a:prstGeom prst="rect">
            <a:avLst/>
          </a:prstGeom>
          <a:noFill/>
        </p:spPr>
        <p:txBody>
          <a:bodyPr wrap="square">
            <a:spAutoFit/>
          </a:bodyPr>
          <a:lstStyle/>
          <a:p>
            <a:pPr algn="ctr"/>
            <a:r>
              <a:rPr lang="id-ID" sz="3200" i="1" dirty="0">
                <a:solidFill>
                  <a:srgbClr val="E8DED0"/>
                </a:solidFill>
                <a:latin typeface="Cooper BT Light" panose="020B0604020202020204" charset="0"/>
              </a:rPr>
              <a:t>10-Fold Cross Validation</a:t>
            </a:r>
          </a:p>
        </p:txBody>
      </p:sp>
      <p:sp>
        <p:nvSpPr>
          <p:cNvPr id="48" name="TextBox 47">
            <a:extLst>
              <a:ext uri="{FF2B5EF4-FFF2-40B4-BE49-F238E27FC236}">
                <a16:creationId xmlns:a16="http://schemas.microsoft.com/office/drawing/2014/main" id="{18297F89-0569-4CF2-BD71-9936895EFC55}"/>
              </a:ext>
            </a:extLst>
          </p:cNvPr>
          <p:cNvSpPr txBox="1"/>
          <p:nvPr/>
        </p:nvSpPr>
        <p:spPr>
          <a:xfrm>
            <a:off x="7010400" y="4762500"/>
            <a:ext cx="2133600" cy="646331"/>
          </a:xfrm>
          <a:prstGeom prst="rect">
            <a:avLst/>
          </a:prstGeom>
          <a:noFill/>
        </p:spPr>
        <p:txBody>
          <a:bodyPr wrap="square">
            <a:spAutoFit/>
          </a:bodyPr>
          <a:lstStyle/>
          <a:p>
            <a:pPr algn="ctr"/>
            <a:r>
              <a:rPr lang="id-ID" sz="3600" i="1" dirty="0">
                <a:solidFill>
                  <a:srgbClr val="E8DED0"/>
                </a:solidFill>
                <a:latin typeface="Cooper BT Light" panose="020B0604020202020204" charset="0"/>
              </a:rPr>
              <a:t>WEKA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3"/>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sp>
        <p:nvSpPr>
          <p:cNvPr id="17" name="TextBox 17"/>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10</a:t>
            </a:r>
          </a:p>
        </p:txBody>
      </p:sp>
      <p:sp>
        <p:nvSpPr>
          <p:cNvPr id="18" name="TextBox 18"/>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19" name="TextBox 19"/>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20" name="TextBox 20"/>
          <p:cNvSpPr txBox="1"/>
          <p:nvPr/>
        </p:nvSpPr>
        <p:spPr>
          <a:xfrm>
            <a:off x="5141201" y="1577392"/>
            <a:ext cx="8005597" cy="1184275"/>
          </a:xfrm>
          <a:prstGeom prst="rect">
            <a:avLst/>
          </a:prstGeom>
        </p:spPr>
        <p:txBody>
          <a:bodyPr lIns="0" tIns="0" rIns="0" bIns="0" rtlCol="0" anchor="t">
            <a:spAutoFit/>
          </a:bodyPr>
          <a:lstStyle/>
          <a:p>
            <a:pPr algn="ctr">
              <a:lnSpc>
                <a:spcPts val="9799"/>
              </a:lnSpc>
            </a:pPr>
            <a:r>
              <a:rPr lang="en-US" sz="6999">
                <a:solidFill>
                  <a:srgbClr val="861A1A"/>
                </a:solidFill>
                <a:latin typeface="Cooper BT Light"/>
                <a:ea typeface="Cooper BT Light"/>
                <a:cs typeface="Cooper BT Light"/>
                <a:sym typeface="Cooper BT Light"/>
              </a:rPr>
              <a:t>Hasil Penelitian</a:t>
            </a:r>
          </a:p>
        </p:txBody>
      </p:sp>
      <p:sp>
        <p:nvSpPr>
          <p:cNvPr id="26" name="TextBox 26"/>
          <p:cNvSpPr txBox="1"/>
          <p:nvPr/>
        </p:nvSpPr>
        <p:spPr>
          <a:xfrm>
            <a:off x="2214761" y="8641850"/>
            <a:ext cx="6778605" cy="562846"/>
          </a:xfrm>
          <a:prstGeom prst="rect">
            <a:avLst/>
          </a:prstGeom>
        </p:spPr>
        <p:txBody>
          <a:bodyPr wrap="square" lIns="0" tIns="0" rIns="0" bIns="0" rtlCol="0" anchor="t">
            <a:spAutoFit/>
          </a:bodyPr>
          <a:lstStyle/>
          <a:p>
            <a:pPr algn="l">
              <a:lnSpc>
                <a:spcPts val="4759"/>
              </a:lnSpc>
            </a:pPr>
            <a:r>
              <a:rPr lang="en-US" sz="3399" b="1" dirty="0">
                <a:solidFill>
                  <a:srgbClr val="861A1A"/>
                </a:solidFill>
                <a:latin typeface="Cooper BT Bold"/>
                <a:ea typeface="Cooper BT Bold"/>
                <a:cs typeface="Cooper BT Bold"/>
                <a:sym typeface="Cooper BT Bold"/>
              </a:rPr>
              <a:t>Hasil </a:t>
            </a:r>
            <a:r>
              <a:rPr lang="en-US" sz="3399" b="1" dirty="0" err="1">
                <a:solidFill>
                  <a:srgbClr val="861A1A"/>
                </a:solidFill>
                <a:latin typeface="Cooper BT Bold"/>
                <a:ea typeface="Cooper BT Bold"/>
                <a:cs typeface="Cooper BT Bold"/>
                <a:sym typeface="Cooper BT Bold"/>
              </a:rPr>
              <a:t>Klasifikasi</a:t>
            </a:r>
            <a:r>
              <a:rPr lang="en-US" sz="3399" b="1" dirty="0">
                <a:solidFill>
                  <a:srgbClr val="861A1A"/>
                </a:solidFill>
                <a:latin typeface="Cooper BT Bold"/>
                <a:ea typeface="Cooper BT Bold"/>
                <a:cs typeface="Cooper BT Bold"/>
                <a:sym typeface="Cooper BT Bold"/>
              </a:rPr>
              <a:t> Naïve Bayes</a:t>
            </a:r>
          </a:p>
        </p:txBody>
      </p:sp>
      <p:pic>
        <p:nvPicPr>
          <p:cNvPr id="25" name="Picture 24">
            <a:extLst>
              <a:ext uri="{FF2B5EF4-FFF2-40B4-BE49-F238E27FC236}">
                <a16:creationId xmlns:a16="http://schemas.microsoft.com/office/drawing/2014/main" id="{1CA0EDCA-69A6-449A-9700-414D80862AF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3543300"/>
            <a:ext cx="10034782" cy="4277833"/>
          </a:xfrm>
          <a:prstGeom prst="rect">
            <a:avLst/>
          </a:prstGeom>
        </p:spPr>
      </p:pic>
      <p:sp>
        <p:nvSpPr>
          <p:cNvPr id="31" name="TextBox 30">
            <a:extLst>
              <a:ext uri="{FF2B5EF4-FFF2-40B4-BE49-F238E27FC236}">
                <a16:creationId xmlns:a16="http://schemas.microsoft.com/office/drawing/2014/main" id="{72DF2CF8-EECB-4761-8BC5-5A988CCB87D9}"/>
              </a:ext>
            </a:extLst>
          </p:cNvPr>
          <p:cNvSpPr txBox="1"/>
          <p:nvPr/>
        </p:nvSpPr>
        <p:spPr>
          <a:xfrm>
            <a:off x="1671955" y="4493842"/>
            <a:ext cx="1614144" cy="523220"/>
          </a:xfrm>
          <a:prstGeom prst="rect">
            <a:avLst/>
          </a:prstGeom>
          <a:noFill/>
        </p:spPr>
        <p:txBody>
          <a:bodyPr wrap="square">
            <a:spAutoFit/>
          </a:bodyPr>
          <a:lstStyle/>
          <a:p>
            <a:r>
              <a:rPr lang="en-US" sz="2800" b="1" dirty="0" err="1">
                <a:solidFill>
                  <a:srgbClr val="861A1A"/>
                </a:solidFill>
                <a:latin typeface="Cooper BT Light"/>
                <a:ea typeface="Cooper BT Light"/>
                <a:cs typeface="Cooper BT Light"/>
                <a:sym typeface="Cooper BT Light"/>
              </a:rPr>
              <a:t>Akurasi</a:t>
            </a:r>
            <a:endParaRPr lang="id-ID" sz="2800" b="1" dirty="0"/>
          </a:p>
        </p:txBody>
      </p:sp>
      <p:sp>
        <p:nvSpPr>
          <p:cNvPr id="32" name="Freeform 22">
            <a:extLst>
              <a:ext uri="{FF2B5EF4-FFF2-40B4-BE49-F238E27FC236}">
                <a16:creationId xmlns:a16="http://schemas.microsoft.com/office/drawing/2014/main" id="{C712E20A-17D1-46FD-87C3-43FE613512D1}"/>
              </a:ext>
            </a:extLst>
          </p:cNvPr>
          <p:cNvSpPr/>
          <p:nvPr/>
        </p:nvSpPr>
        <p:spPr>
          <a:xfrm rot="-447375">
            <a:off x="2492367" y="3837578"/>
            <a:ext cx="1070421" cy="569428"/>
          </a:xfrm>
          <a:custGeom>
            <a:avLst/>
            <a:gdLst/>
            <a:ahLst/>
            <a:cxnLst/>
            <a:rect l="l" t="t" r="r" b="b"/>
            <a:pathLst>
              <a:path w="1070421" h="569428">
                <a:moveTo>
                  <a:pt x="0" y="0"/>
                </a:moveTo>
                <a:lnTo>
                  <a:pt x="1070421" y="0"/>
                </a:lnTo>
                <a:lnTo>
                  <a:pt x="1070421" y="569428"/>
                </a:lnTo>
                <a:lnTo>
                  <a:pt x="0" y="56942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id-ID"/>
          </a:p>
        </p:txBody>
      </p:sp>
      <p:sp>
        <p:nvSpPr>
          <p:cNvPr id="33" name="Freeform 21">
            <a:extLst>
              <a:ext uri="{FF2B5EF4-FFF2-40B4-BE49-F238E27FC236}">
                <a16:creationId xmlns:a16="http://schemas.microsoft.com/office/drawing/2014/main" id="{09508524-B612-4700-AAB9-CDE71B4B57DF}"/>
              </a:ext>
            </a:extLst>
          </p:cNvPr>
          <p:cNvSpPr/>
          <p:nvPr/>
        </p:nvSpPr>
        <p:spPr>
          <a:xfrm rot="16598460">
            <a:off x="2288516" y="6606970"/>
            <a:ext cx="1070421" cy="569428"/>
          </a:xfrm>
          <a:custGeom>
            <a:avLst/>
            <a:gdLst/>
            <a:ahLst/>
            <a:cxnLst/>
            <a:rect l="l" t="t" r="r" b="b"/>
            <a:pathLst>
              <a:path w="1070421" h="569428">
                <a:moveTo>
                  <a:pt x="0" y="0"/>
                </a:moveTo>
                <a:lnTo>
                  <a:pt x="1070421" y="0"/>
                </a:lnTo>
                <a:lnTo>
                  <a:pt x="1070421" y="569428"/>
                </a:lnTo>
                <a:lnTo>
                  <a:pt x="0" y="56942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id-ID"/>
          </a:p>
        </p:txBody>
      </p:sp>
      <p:sp>
        <p:nvSpPr>
          <p:cNvPr id="35" name="TextBox 34">
            <a:extLst>
              <a:ext uri="{FF2B5EF4-FFF2-40B4-BE49-F238E27FC236}">
                <a16:creationId xmlns:a16="http://schemas.microsoft.com/office/drawing/2014/main" id="{976A4388-FD4A-415B-B0CA-2D5F84A51664}"/>
              </a:ext>
            </a:extLst>
          </p:cNvPr>
          <p:cNvSpPr txBox="1"/>
          <p:nvPr/>
        </p:nvSpPr>
        <p:spPr>
          <a:xfrm>
            <a:off x="1600359" y="7631753"/>
            <a:ext cx="3531010" cy="523220"/>
          </a:xfrm>
          <a:prstGeom prst="rect">
            <a:avLst/>
          </a:prstGeom>
          <a:noFill/>
        </p:spPr>
        <p:txBody>
          <a:bodyPr wrap="square">
            <a:spAutoFit/>
          </a:bodyPr>
          <a:lstStyle/>
          <a:p>
            <a:r>
              <a:rPr lang="en-US" sz="2800" b="1" dirty="0">
                <a:solidFill>
                  <a:srgbClr val="861A1A"/>
                </a:solidFill>
                <a:latin typeface="Cooper BT Light"/>
                <a:ea typeface="Cooper BT Light"/>
                <a:cs typeface="Cooper BT Light"/>
                <a:sym typeface="Cooper BT Light"/>
              </a:rPr>
              <a:t>Precision (rata-rata):</a:t>
            </a:r>
            <a:endParaRPr lang="id-ID" sz="2800" b="1" dirty="0"/>
          </a:p>
        </p:txBody>
      </p:sp>
      <p:sp>
        <p:nvSpPr>
          <p:cNvPr id="37" name="TextBox 36">
            <a:extLst>
              <a:ext uri="{FF2B5EF4-FFF2-40B4-BE49-F238E27FC236}">
                <a16:creationId xmlns:a16="http://schemas.microsoft.com/office/drawing/2014/main" id="{4FCB2C7E-4DD9-4043-AA65-5961BF1CBAB1}"/>
              </a:ext>
            </a:extLst>
          </p:cNvPr>
          <p:cNvSpPr txBox="1"/>
          <p:nvPr/>
        </p:nvSpPr>
        <p:spPr>
          <a:xfrm>
            <a:off x="7080442" y="6608472"/>
            <a:ext cx="1980681" cy="954107"/>
          </a:xfrm>
          <a:prstGeom prst="rect">
            <a:avLst/>
          </a:prstGeom>
          <a:noFill/>
        </p:spPr>
        <p:txBody>
          <a:bodyPr wrap="square">
            <a:spAutoFit/>
          </a:bodyPr>
          <a:lstStyle/>
          <a:p>
            <a:r>
              <a:rPr lang="en-US" sz="2800" b="1" dirty="0">
                <a:solidFill>
                  <a:srgbClr val="861A1A"/>
                </a:solidFill>
                <a:latin typeface="Cooper BT Light"/>
                <a:ea typeface="Cooper BT Light"/>
                <a:cs typeface="Cooper BT Light"/>
                <a:sym typeface="Cooper BT Light"/>
              </a:rPr>
              <a:t>Recall (rata-rata): </a:t>
            </a:r>
            <a:endParaRPr lang="id-ID" sz="2800" b="1" dirty="0"/>
          </a:p>
        </p:txBody>
      </p:sp>
      <p:sp>
        <p:nvSpPr>
          <p:cNvPr id="38" name="Freeform 16">
            <a:extLst>
              <a:ext uri="{FF2B5EF4-FFF2-40B4-BE49-F238E27FC236}">
                <a16:creationId xmlns:a16="http://schemas.microsoft.com/office/drawing/2014/main" id="{92AA17E5-83E2-4F0C-8BD1-2C17F7645C5F}"/>
              </a:ext>
            </a:extLst>
          </p:cNvPr>
          <p:cNvSpPr/>
          <p:nvPr/>
        </p:nvSpPr>
        <p:spPr>
          <a:xfrm rot="970913" flipH="1">
            <a:off x="6458943" y="5954495"/>
            <a:ext cx="1070421" cy="569428"/>
          </a:xfrm>
          <a:custGeom>
            <a:avLst/>
            <a:gdLst/>
            <a:ahLst/>
            <a:cxnLst/>
            <a:rect l="l" t="t" r="r" b="b"/>
            <a:pathLst>
              <a:path w="1070421" h="569428">
                <a:moveTo>
                  <a:pt x="1070421" y="0"/>
                </a:moveTo>
                <a:lnTo>
                  <a:pt x="0" y="0"/>
                </a:lnTo>
                <a:lnTo>
                  <a:pt x="0" y="569428"/>
                </a:lnTo>
                <a:lnTo>
                  <a:pt x="1070421" y="569428"/>
                </a:lnTo>
                <a:lnTo>
                  <a:pt x="1070421"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id-ID"/>
          </a:p>
        </p:txBody>
      </p:sp>
      <p:sp>
        <p:nvSpPr>
          <p:cNvPr id="39" name="Freeform 16">
            <a:extLst>
              <a:ext uri="{FF2B5EF4-FFF2-40B4-BE49-F238E27FC236}">
                <a16:creationId xmlns:a16="http://schemas.microsoft.com/office/drawing/2014/main" id="{EA470F5D-8EF2-49F0-9083-0CFB29D642A8}"/>
              </a:ext>
            </a:extLst>
          </p:cNvPr>
          <p:cNvSpPr/>
          <p:nvPr/>
        </p:nvSpPr>
        <p:spPr>
          <a:xfrm rot="20710701" flipH="1">
            <a:off x="5448436" y="3525501"/>
            <a:ext cx="1070421" cy="569428"/>
          </a:xfrm>
          <a:custGeom>
            <a:avLst/>
            <a:gdLst/>
            <a:ahLst/>
            <a:cxnLst/>
            <a:rect l="l" t="t" r="r" b="b"/>
            <a:pathLst>
              <a:path w="1070421" h="569428">
                <a:moveTo>
                  <a:pt x="1070421" y="0"/>
                </a:moveTo>
                <a:lnTo>
                  <a:pt x="0" y="0"/>
                </a:lnTo>
                <a:lnTo>
                  <a:pt x="0" y="569428"/>
                </a:lnTo>
                <a:lnTo>
                  <a:pt x="1070421" y="569428"/>
                </a:lnTo>
                <a:lnTo>
                  <a:pt x="1070421"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id-ID"/>
          </a:p>
        </p:txBody>
      </p:sp>
      <p:sp>
        <p:nvSpPr>
          <p:cNvPr id="41" name="TextBox 40">
            <a:extLst>
              <a:ext uri="{FF2B5EF4-FFF2-40B4-BE49-F238E27FC236}">
                <a16:creationId xmlns:a16="http://schemas.microsoft.com/office/drawing/2014/main" id="{001AA3D0-5731-4CC9-BB10-DB1429AF2C64}"/>
              </a:ext>
            </a:extLst>
          </p:cNvPr>
          <p:cNvSpPr txBox="1"/>
          <p:nvPr/>
        </p:nvSpPr>
        <p:spPr>
          <a:xfrm>
            <a:off x="6573882" y="3780863"/>
            <a:ext cx="1980681" cy="830997"/>
          </a:xfrm>
          <a:prstGeom prst="rect">
            <a:avLst/>
          </a:prstGeom>
          <a:noFill/>
        </p:spPr>
        <p:txBody>
          <a:bodyPr wrap="square">
            <a:spAutoFit/>
          </a:bodyPr>
          <a:lstStyle/>
          <a:p>
            <a:r>
              <a:rPr lang="en-US" sz="2400" b="1" dirty="0">
                <a:solidFill>
                  <a:srgbClr val="861A1A"/>
                </a:solidFill>
                <a:latin typeface="Cooper BT Light"/>
                <a:ea typeface="Cooper BT Light"/>
                <a:cs typeface="Cooper BT Light"/>
                <a:sym typeface="Cooper BT Light"/>
              </a:rPr>
              <a:t>F1-score (rata-rata): </a:t>
            </a:r>
            <a:endParaRPr lang="id-ID" sz="2400" b="1" dirty="0"/>
          </a:p>
        </p:txBody>
      </p:sp>
      <p:sp>
        <p:nvSpPr>
          <p:cNvPr id="43" name="TextBox 42">
            <a:extLst>
              <a:ext uri="{FF2B5EF4-FFF2-40B4-BE49-F238E27FC236}">
                <a16:creationId xmlns:a16="http://schemas.microsoft.com/office/drawing/2014/main" id="{CEBFCA0F-11B5-42C6-A010-40EDA7386292}"/>
              </a:ext>
            </a:extLst>
          </p:cNvPr>
          <p:cNvSpPr txBox="1"/>
          <p:nvPr/>
        </p:nvSpPr>
        <p:spPr>
          <a:xfrm>
            <a:off x="9742429" y="4582983"/>
            <a:ext cx="5614799" cy="1938992"/>
          </a:xfrm>
          <a:prstGeom prst="rect">
            <a:avLst/>
          </a:prstGeom>
          <a:noFill/>
        </p:spPr>
        <p:txBody>
          <a:bodyPr wrap="square">
            <a:spAutoFit/>
          </a:bodyPr>
          <a:lstStyle/>
          <a:p>
            <a:r>
              <a:rPr lang="id-ID" sz="2400" dirty="0">
                <a:solidFill>
                  <a:srgbClr val="861A1A"/>
                </a:solidFill>
              </a:rPr>
              <a:t>Hasil tersebut menunjukkan bahwa model Naive Bayes mampu mengklasifikasikan sentimen ulasan produk dengan performa yang cukup baik, terutama pada kategori sentimen positif dan negatif.</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DED0"/>
        </a:soli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861A1A"/>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grpSp>
        <p:nvGrpSpPr>
          <p:cNvPr id="6" name="Group 6"/>
          <p:cNvGrpSpPr/>
          <p:nvPr/>
        </p:nvGrpSpPr>
        <p:grpSpPr>
          <a:xfrm>
            <a:off x="680510" y="634460"/>
            <a:ext cx="6642227" cy="788479"/>
            <a:chOff x="0" y="0"/>
            <a:chExt cx="3423554" cy="406400"/>
          </a:xfrm>
        </p:grpSpPr>
        <p:sp>
          <p:nvSpPr>
            <p:cNvPr id="7" name="Freeform 7"/>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8" name="TextBox 8"/>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1" name="Group 11"/>
          <p:cNvGrpSpPr/>
          <p:nvPr/>
        </p:nvGrpSpPr>
        <p:grpSpPr>
          <a:xfrm>
            <a:off x="11660216" y="634460"/>
            <a:ext cx="5947274" cy="788479"/>
            <a:chOff x="0" y="0"/>
            <a:chExt cx="3065360" cy="406400"/>
          </a:xfrm>
        </p:grpSpPr>
        <p:sp>
          <p:nvSpPr>
            <p:cNvPr id="12" name="Freeform 12"/>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861A1A"/>
              </a:solidFill>
              <a:prstDash val="solid"/>
              <a:miter/>
            </a:ln>
          </p:spPr>
        </p:sp>
        <p:sp>
          <p:nvSpPr>
            <p:cNvPr id="13" name="TextBox 13"/>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4" name="AutoShape 14"/>
          <p:cNvSpPr/>
          <p:nvPr/>
        </p:nvSpPr>
        <p:spPr>
          <a:xfrm>
            <a:off x="7322736" y="1028700"/>
            <a:ext cx="4337480" cy="0"/>
          </a:xfrm>
          <a:prstGeom prst="line">
            <a:avLst/>
          </a:prstGeom>
          <a:ln w="19050" cap="flat">
            <a:solidFill>
              <a:srgbClr val="861A1A"/>
            </a:solidFill>
            <a:prstDash val="solid"/>
            <a:headEnd type="none" w="sm" len="sm"/>
            <a:tailEnd type="none" w="sm" len="sm"/>
          </a:ln>
        </p:spPr>
      </p:sp>
      <p:sp>
        <p:nvSpPr>
          <p:cNvPr id="16" name="TextBox 16"/>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11</a:t>
            </a:r>
          </a:p>
        </p:txBody>
      </p:sp>
      <p:sp>
        <p:nvSpPr>
          <p:cNvPr id="17" name="TextBox 17"/>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861A1A"/>
                </a:solidFill>
                <a:latin typeface="Cooper BT Light Italics"/>
                <a:ea typeface="Cooper BT Light Italics"/>
                <a:cs typeface="Cooper BT Light Italics"/>
                <a:sym typeface="Cooper BT Light Italics"/>
              </a:rPr>
              <a:t>Sekolah</a:t>
            </a:r>
            <a:r>
              <a:rPr lang="en-US" sz="2400" i="1" spc="371" dirty="0">
                <a:solidFill>
                  <a:srgbClr val="861A1A"/>
                </a:solidFill>
                <a:latin typeface="Cooper BT Light Italics"/>
                <a:ea typeface="Cooper BT Light Italics"/>
                <a:cs typeface="Cooper BT Light Italics"/>
                <a:sym typeface="Cooper BT Light Italics"/>
              </a:rPr>
              <a:t> Tinggi </a:t>
            </a:r>
            <a:r>
              <a:rPr lang="en-US" sz="2400" i="1" spc="371" dirty="0" err="1">
                <a:solidFill>
                  <a:srgbClr val="861A1A"/>
                </a:solidFill>
                <a:latin typeface="Cooper BT Light Italics"/>
                <a:ea typeface="Cooper BT Light Italics"/>
                <a:cs typeface="Cooper BT Light Italics"/>
                <a:sym typeface="Cooper BT Light Italics"/>
              </a:rPr>
              <a:t>Ilmu</a:t>
            </a:r>
            <a:r>
              <a:rPr lang="en-US" sz="2400" i="1" spc="371" dirty="0">
                <a:solidFill>
                  <a:srgbClr val="861A1A"/>
                </a:solidFill>
                <a:latin typeface="Cooper BT Light Italics"/>
                <a:ea typeface="Cooper BT Light Italics"/>
                <a:cs typeface="Cooper BT Light Italics"/>
                <a:sym typeface="Cooper BT Light Italics"/>
              </a:rPr>
              <a:t> </a:t>
            </a:r>
            <a:r>
              <a:rPr lang="en-US" sz="2400" i="1" spc="371" dirty="0" err="1">
                <a:solidFill>
                  <a:srgbClr val="861A1A"/>
                </a:solidFill>
                <a:latin typeface="Cooper BT Light Italics"/>
                <a:ea typeface="Cooper BT Light Italics"/>
                <a:cs typeface="Cooper BT Light Italics"/>
                <a:sym typeface="Cooper BT Light Italics"/>
              </a:rPr>
              <a:t>Komputer</a:t>
            </a:r>
            <a:endParaRPr lang="en-US" sz="2400" i="1" spc="371" dirty="0">
              <a:solidFill>
                <a:srgbClr val="861A1A"/>
              </a:solidFill>
              <a:latin typeface="Cooper BT Light Italics"/>
              <a:ea typeface="Cooper BT Light Italics"/>
              <a:cs typeface="Cooper BT Light Italics"/>
              <a:sym typeface="Cooper BT Light Italics"/>
            </a:endParaRPr>
          </a:p>
        </p:txBody>
      </p:sp>
      <p:sp>
        <p:nvSpPr>
          <p:cNvPr id="18" name="TextBox 18"/>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861A1A"/>
                </a:solidFill>
                <a:latin typeface="Cooper BT Light Italics"/>
                <a:ea typeface="Cooper BT Light Italics"/>
                <a:cs typeface="Cooper BT Light Italics"/>
                <a:sym typeface="Cooper BT Light Italics"/>
              </a:rPr>
              <a:t>Data Mining</a:t>
            </a:r>
          </a:p>
        </p:txBody>
      </p:sp>
      <p:sp>
        <p:nvSpPr>
          <p:cNvPr id="19" name="TextBox 19"/>
          <p:cNvSpPr txBox="1"/>
          <p:nvPr/>
        </p:nvSpPr>
        <p:spPr>
          <a:xfrm>
            <a:off x="8556887" y="3542630"/>
            <a:ext cx="5992027" cy="570865"/>
          </a:xfrm>
          <a:prstGeom prst="rect">
            <a:avLst/>
          </a:prstGeom>
        </p:spPr>
        <p:txBody>
          <a:bodyPr lIns="0" tIns="0" rIns="0" bIns="0" rtlCol="0" anchor="t">
            <a:spAutoFit/>
          </a:bodyPr>
          <a:lstStyle/>
          <a:p>
            <a:pPr algn="l">
              <a:lnSpc>
                <a:spcPts val="4759"/>
              </a:lnSpc>
            </a:pPr>
            <a:r>
              <a:rPr lang="en-US" sz="3399" b="1">
                <a:solidFill>
                  <a:srgbClr val="861A1A"/>
                </a:solidFill>
                <a:latin typeface="Cooper BT Bold"/>
                <a:ea typeface="Cooper BT Bold"/>
                <a:cs typeface="Cooper BT Bold"/>
                <a:sym typeface="Cooper BT Bold"/>
              </a:rPr>
              <a:t>Grafik Hasil Penelitian</a:t>
            </a:r>
          </a:p>
        </p:txBody>
      </p:sp>
      <p:sp>
        <p:nvSpPr>
          <p:cNvPr id="20" name="TextBox 20"/>
          <p:cNvSpPr txBox="1"/>
          <p:nvPr/>
        </p:nvSpPr>
        <p:spPr>
          <a:xfrm>
            <a:off x="8556887" y="4403115"/>
            <a:ext cx="7399335" cy="3960764"/>
          </a:xfrm>
          <a:prstGeom prst="rect">
            <a:avLst/>
          </a:prstGeom>
        </p:spPr>
        <p:txBody>
          <a:bodyPr lIns="0" tIns="0" rIns="0" bIns="0" rtlCol="0" anchor="t">
            <a:spAutoFit/>
          </a:bodyPr>
          <a:lstStyle/>
          <a:p>
            <a:pPr algn="l">
              <a:lnSpc>
                <a:spcPts val="3920"/>
              </a:lnSpc>
            </a:pPr>
            <a:r>
              <a:rPr lang="id-ID" sz="2800" dirty="0">
                <a:solidFill>
                  <a:srgbClr val="9D4946"/>
                </a:solidFill>
                <a:latin typeface="Cooper BT Light" panose="020B0604020202020204" charset="0"/>
              </a:rPr>
              <a:t>Distribusi data sentimen setelah proses </a:t>
            </a:r>
            <a:r>
              <a:rPr lang="id-ID" sz="2800" i="1" dirty="0">
                <a:solidFill>
                  <a:srgbClr val="9D4946"/>
                </a:solidFill>
                <a:latin typeface="Cooper BT Light" panose="020B0604020202020204" charset="0"/>
              </a:rPr>
              <a:t>random sampling</a:t>
            </a:r>
            <a:r>
              <a:rPr lang="id-ID" sz="2800" dirty="0">
                <a:solidFill>
                  <a:srgbClr val="9D4946"/>
                </a:solidFill>
                <a:latin typeface="Cooper BT Light" panose="020B0604020202020204" charset="0"/>
              </a:rPr>
              <a:t> menunjukkan jumlah data yang relatif seimbang pada setiap kategori, yaitu sentimen positif, netral, dan negatif. Keseimbangan data ini bertujuan untuk mengurangi bias model dan meningkatkan keadilan serta akurasi dalam proses klasifikasi sentimen.</a:t>
            </a:r>
            <a:endParaRPr lang="en-US" sz="2800" dirty="0">
              <a:solidFill>
                <a:srgbClr val="9D4946"/>
              </a:solidFill>
              <a:latin typeface="Cooper BT Light" panose="020B0604020202020204" charset="0"/>
              <a:ea typeface="Cooper BT Light"/>
              <a:cs typeface="Cooper BT Light"/>
              <a:sym typeface="Cooper BT Light"/>
            </a:endParaRPr>
          </a:p>
        </p:txBody>
      </p:sp>
      <p:pic>
        <p:nvPicPr>
          <p:cNvPr id="21" name="Picture 20">
            <a:extLst>
              <a:ext uri="{FF2B5EF4-FFF2-40B4-BE49-F238E27FC236}">
                <a16:creationId xmlns:a16="http://schemas.microsoft.com/office/drawing/2014/main" id="{DF0BED68-D804-4171-8744-C4DB2828D297}"/>
              </a:ext>
            </a:extLst>
          </p:cNvPr>
          <p:cNvPicPr>
            <a:picLocks noChangeAspect="1"/>
          </p:cNvPicPr>
          <p:nvPr/>
        </p:nvPicPr>
        <p:blipFill rotWithShape="1">
          <a:blip r:embed="rId7">
            <a:extLst>
              <a:ext uri="{28A0092B-C50C-407E-A947-70E740481C1C}">
                <a14:useLocalDpi xmlns:a14="http://schemas.microsoft.com/office/drawing/2010/main" val="0"/>
              </a:ext>
            </a:extLst>
          </a:blip>
          <a:srcRect l="49550" t="36791" r="28109" b="34101"/>
          <a:stretch/>
        </p:blipFill>
        <p:spPr>
          <a:xfrm>
            <a:off x="969965" y="3764585"/>
            <a:ext cx="6778605" cy="4967853"/>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E8DED0"/>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sp>
        <p:nvSpPr>
          <p:cNvPr id="6" name="TextBox 6"/>
          <p:cNvSpPr txBox="1"/>
          <p:nvPr/>
        </p:nvSpPr>
        <p:spPr>
          <a:xfrm>
            <a:off x="15956222" y="9453768"/>
            <a:ext cx="1157963" cy="622935"/>
          </a:xfrm>
          <a:prstGeom prst="rect">
            <a:avLst/>
          </a:prstGeom>
        </p:spPr>
        <p:txBody>
          <a:bodyPr lIns="0" tIns="0" rIns="0" bIns="0" rtlCol="0" anchor="t">
            <a:spAutoFit/>
          </a:bodyPr>
          <a:lstStyle/>
          <a:p>
            <a:pPr algn="ctr">
              <a:lnSpc>
                <a:spcPts val="5039"/>
              </a:lnSpc>
            </a:pPr>
            <a:r>
              <a:rPr lang="en-US" sz="3599" i="1">
                <a:solidFill>
                  <a:srgbClr val="861A1A"/>
                </a:solidFill>
                <a:latin typeface="Cooper BT Light Italics"/>
                <a:ea typeface="Cooper BT Light Italics"/>
                <a:cs typeface="Cooper BT Light Italics"/>
                <a:sym typeface="Cooper BT Light Italics"/>
              </a:rPr>
              <a:t>13</a:t>
            </a:r>
          </a:p>
        </p:txBody>
      </p:sp>
      <p:grpSp>
        <p:nvGrpSpPr>
          <p:cNvPr id="7" name="Group 7"/>
          <p:cNvGrpSpPr/>
          <p:nvPr/>
        </p:nvGrpSpPr>
        <p:grpSpPr>
          <a:xfrm>
            <a:off x="680510" y="634460"/>
            <a:ext cx="6642227" cy="788479"/>
            <a:chOff x="0" y="0"/>
            <a:chExt cx="3423554" cy="406400"/>
          </a:xfrm>
        </p:grpSpPr>
        <p:sp>
          <p:nvSpPr>
            <p:cNvPr id="8" name="Freeform 8"/>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9" name="TextBox 9"/>
            <p:cNvSpPr txBox="1"/>
            <p:nvPr/>
          </p:nvSpPr>
          <p:spPr>
            <a:xfrm>
              <a:off x="0" y="-38100"/>
              <a:ext cx="3423554" cy="44450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1660216" y="634460"/>
            <a:ext cx="5947274" cy="788479"/>
            <a:chOff x="0" y="0"/>
            <a:chExt cx="3065360" cy="406400"/>
          </a:xfrm>
        </p:grpSpPr>
        <p:sp>
          <p:nvSpPr>
            <p:cNvPr id="13" name="Freeform 13"/>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4" name="TextBox 14"/>
            <p:cNvSpPr txBox="1"/>
            <p:nvPr/>
          </p:nvSpPr>
          <p:spPr>
            <a:xfrm>
              <a:off x="0" y="-38100"/>
              <a:ext cx="3065360" cy="444500"/>
            </a:xfrm>
            <a:prstGeom prst="rect">
              <a:avLst/>
            </a:prstGeom>
          </p:spPr>
          <p:txBody>
            <a:bodyPr lIns="50800" tIns="50800" rIns="50800" bIns="50800" rtlCol="0" anchor="ctr"/>
            <a:lstStyle/>
            <a:p>
              <a:pPr algn="ctr">
                <a:lnSpc>
                  <a:spcPts val="2659"/>
                </a:lnSpc>
              </a:pPr>
              <a:endParaRPr/>
            </a:p>
          </p:txBody>
        </p:sp>
      </p:grpSp>
      <p:sp>
        <p:nvSpPr>
          <p:cNvPr id="15" name="AutoShape 15"/>
          <p:cNvSpPr/>
          <p:nvPr/>
        </p:nvSpPr>
        <p:spPr>
          <a:xfrm>
            <a:off x="7322736" y="1028700"/>
            <a:ext cx="4337480" cy="0"/>
          </a:xfrm>
          <a:prstGeom prst="line">
            <a:avLst/>
          </a:prstGeom>
          <a:ln w="19050" cap="flat">
            <a:solidFill>
              <a:srgbClr val="E8DED0"/>
            </a:solidFill>
            <a:prstDash val="solid"/>
            <a:headEnd type="none" w="sm" len="sm"/>
            <a:tailEnd type="none" w="sm" len="sm"/>
          </a:ln>
        </p:spPr>
      </p:sp>
      <p:sp>
        <p:nvSpPr>
          <p:cNvPr id="16" name="TextBox 1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E8DED0"/>
                </a:solidFill>
                <a:latin typeface="Cooper BT Light Italics"/>
                <a:ea typeface="Cooper BT Light Italics"/>
                <a:cs typeface="Cooper BT Light Italics"/>
                <a:sym typeface="Cooper BT Light Italics"/>
              </a:rPr>
              <a:t>Sekolah</a:t>
            </a:r>
            <a:r>
              <a:rPr lang="en-US" sz="2400" i="1" spc="371" dirty="0">
                <a:solidFill>
                  <a:srgbClr val="E8DED0"/>
                </a:solidFill>
                <a:latin typeface="Cooper BT Light Italics"/>
                <a:ea typeface="Cooper BT Light Italics"/>
                <a:cs typeface="Cooper BT Light Italics"/>
                <a:sym typeface="Cooper BT Light Italics"/>
              </a:rPr>
              <a:t> Tinggi </a:t>
            </a:r>
            <a:r>
              <a:rPr lang="en-US" sz="2400" i="1" spc="371" dirty="0" err="1">
                <a:solidFill>
                  <a:srgbClr val="E8DED0"/>
                </a:solidFill>
                <a:latin typeface="Cooper BT Light Italics"/>
                <a:ea typeface="Cooper BT Light Italics"/>
                <a:cs typeface="Cooper BT Light Italics"/>
                <a:sym typeface="Cooper BT Light Italics"/>
              </a:rPr>
              <a:t>Ilmu</a:t>
            </a:r>
            <a:r>
              <a:rPr lang="en-US" sz="2400" i="1" spc="371" dirty="0">
                <a:solidFill>
                  <a:srgbClr val="E8DED0"/>
                </a:solidFill>
                <a:latin typeface="Cooper BT Light Italics"/>
                <a:ea typeface="Cooper BT Light Italics"/>
                <a:cs typeface="Cooper BT Light Italics"/>
                <a:sym typeface="Cooper BT Light Italics"/>
              </a:rPr>
              <a:t> </a:t>
            </a:r>
            <a:r>
              <a:rPr lang="en-US" sz="2400" i="1" spc="371" dirty="0" err="1">
                <a:solidFill>
                  <a:srgbClr val="E8DED0"/>
                </a:solidFill>
                <a:latin typeface="Cooper BT Light Italics"/>
                <a:ea typeface="Cooper BT Light Italics"/>
                <a:cs typeface="Cooper BT Light Italics"/>
                <a:sym typeface="Cooper BT Light Italics"/>
              </a:rPr>
              <a:t>Komputer</a:t>
            </a:r>
            <a:endParaRPr lang="en-US" sz="2400" i="1" spc="371" dirty="0">
              <a:solidFill>
                <a:srgbClr val="E8DED0"/>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grpSp>
        <p:nvGrpSpPr>
          <p:cNvPr id="18" name="Group 18"/>
          <p:cNvGrpSpPr/>
          <p:nvPr/>
        </p:nvGrpSpPr>
        <p:grpSpPr>
          <a:xfrm>
            <a:off x="1872395" y="2261029"/>
            <a:ext cx="14543211" cy="6589048"/>
            <a:chOff x="0" y="0"/>
            <a:chExt cx="896998" cy="406400"/>
          </a:xfrm>
        </p:grpSpPr>
        <p:sp>
          <p:nvSpPr>
            <p:cNvPr id="19" name="Freeform 19"/>
            <p:cNvSpPr/>
            <p:nvPr/>
          </p:nvSpPr>
          <p:spPr>
            <a:xfrm>
              <a:off x="0" y="0"/>
              <a:ext cx="896998" cy="406400"/>
            </a:xfrm>
            <a:custGeom>
              <a:avLst/>
              <a:gdLst/>
              <a:ahLst/>
              <a:cxnLst/>
              <a:rect l="l" t="t" r="r" b="b"/>
              <a:pathLst>
                <a:path w="896998" h="406400">
                  <a:moveTo>
                    <a:pt x="693798" y="0"/>
                  </a:moveTo>
                  <a:cubicBezTo>
                    <a:pt x="806022" y="0"/>
                    <a:pt x="896998" y="90976"/>
                    <a:pt x="896998" y="203200"/>
                  </a:cubicBezTo>
                  <a:cubicBezTo>
                    <a:pt x="896998" y="315424"/>
                    <a:pt x="806022" y="406400"/>
                    <a:pt x="6937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20" name="TextBox 20"/>
            <p:cNvSpPr txBox="1"/>
            <p:nvPr/>
          </p:nvSpPr>
          <p:spPr>
            <a:xfrm>
              <a:off x="0" y="-38100"/>
              <a:ext cx="896998" cy="444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6004224" y="2661600"/>
            <a:ext cx="6279553" cy="1184275"/>
          </a:xfrm>
          <a:prstGeom prst="rect">
            <a:avLst/>
          </a:prstGeom>
        </p:spPr>
        <p:txBody>
          <a:bodyPr lIns="0" tIns="0" rIns="0" bIns="0" rtlCol="0" anchor="t">
            <a:spAutoFit/>
          </a:bodyPr>
          <a:lstStyle/>
          <a:p>
            <a:pPr algn="ctr">
              <a:lnSpc>
                <a:spcPts val="9799"/>
              </a:lnSpc>
            </a:pPr>
            <a:r>
              <a:rPr lang="en-US" sz="6999">
                <a:solidFill>
                  <a:srgbClr val="E8DED0"/>
                </a:solidFill>
                <a:latin typeface="Cooper BT Light"/>
                <a:ea typeface="Cooper BT Light"/>
                <a:cs typeface="Cooper BT Light"/>
                <a:sym typeface="Cooper BT Light"/>
              </a:rPr>
              <a:t>Kesimpulan</a:t>
            </a:r>
          </a:p>
        </p:txBody>
      </p:sp>
      <p:sp>
        <p:nvSpPr>
          <p:cNvPr id="22" name="TextBox 22"/>
          <p:cNvSpPr txBox="1"/>
          <p:nvPr/>
        </p:nvSpPr>
        <p:spPr>
          <a:xfrm>
            <a:off x="2331778" y="4026343"/>
            <a:ext cx="13624444" cy="4078617"/>
          </a:xfrm>
          <a:prstGeom prst="rect">
            <a:avLst/>
          </a:prstGeom>
        </p:spPr>
        <p:txBody>
          <a:bodyPr lIns="0" tIns="0" rIns="0" bIns="0" rtlCol="0" anchor="t">
            <a:spAutoFit/>
          </a:bodyPr>
          <a:lstStyle/>
          <a:p>
            <a:pPr algn="ctr">
              <a:lnSpc>
                <a:spcPts val="4620"/>
              </a:lnSpc>
            </a:pPr>
            <a:r>
              <a:rPr lang="id-ID" sz="3200" dirty="0">
                <a:solidFill>
                  <a:srgbClr val="E8DED0"/>
                </a:solidFill>
                <a:latin typeface="Cooper BT Light" panose="020B0604020202020204" charset="0"/>
              </a:rPr>
              <a:t>Teknik </a:t>
            </a:r>
            <a:r>
              <a:rPr lang="id-ID" sz="3200" i="1" dirty="0">
                <a:solidFill>
                  <a:srgbClr val="E8DED0"/>
                </a:solidFill>
                <a:latin typeface="Cooper BT Light" panose="020B0604020202020204" charset="0"/>
              </a:rPr>
              <a:t>text mining</a:t>
            </a:r>
            <a:r>
              <a:rPr lang="id-ID" sz="3200" dirty="0">
                <a:solidFill>
                  <a:srgbClr val="E8DED0"/>
                </a:solidFill>
                <a:latin typeface="Cooper BT Light" panose="020B0604020202020204" charset="0"/>
              </a:rPr>
              <a:t> berhasil diterapkan untuk menganalisis sentimen ulasan produk Tokopedia melalui proses </a:t>
            </a:r>
            <a:r>
              <a:rPr lang="id-ID" sz="3200" i="1" dirty="0">
                <a:solidFill>
                  <a:srgbClr val="E8DED0"/>
                </a:solidFill>
                <a:latin typeface="Cooper BT Light" panose="020B0604020202020204" charset="0"/>
              </a:rPr>
              <a:t>text preprocessing</a:t>
            </a:r>
            <a:r>
              <a:rPr lang="id-ID" sz="3200" dirty="0">
                <a:solidFill>
                  <a:srgbClr val="E8DED0"/>
                </a:solidFill>
                <a:latin typeface="Cooper BT Light" panose="020B0604020202020204" charset="0"/>
              </a:rPr>
              <a:t>. Metode Naive Bayes dengan fitur TF-IDF dan 10-fold cross validation mampu mengklasifikasikan sentimen positif, netral, dan negatif dengan akurasi 54,65%, dengan performa yang lebih baik pada sentimen positif dan negatif. Secara umum, Naive Bayes dapat digunakan sebagai pendekatan dasar dalam analisis sentimen ulasan produk online.</a:t>
            </a:r>
            <a:endParaRPr lang="en-US" sz="3200" dirty="0">
              <a:solidFill>
                <a:srgbClr val="E8DED0"/>
              </a:solidFill>
              <a:latin typeface="Cooper BT Light" panose="020B0604020202020204" charset="0"/>
              <a:ea typeface="Cooper BT Light"/>
              <a:cs typeface="Cooper BT Light"/>
              <a:sym typeface="Cooper BT Light"/>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10001060"/>
            <a:ext cx="18288000" cy="285940"/>
            <a:chOff x="0" y="0"/>
            <a:chExt cx="4816593" cy="75309"/>
          </a:xfrm>
        </p:grpSpPr>
        <p:sp>
          <p:nvSpPr>
            <p:cNvPr id="3" name="Freeform 3"/>
            <p:cNvSpPr/>
            <p:nvPr/>
          </p:nvSpPr>
          <p:spPr>
            <a:xfrm>
              <a:off x="0" y="0"/>
              <a:ext cx="4816592" cy="75309"/>
            </a:xfrm>
            <a:custGeom>
              <a:avLst/>
              <a:gdLst/>
              <a:ahLst/>
              <a:cxnLst/>
              <a:rect l="l" t="t" r="r" b="b"/>
              <a:pathLst>
                <a:path w="4816592" h="75309">
                  <a:moveTo>
                    <a:pt x="0" y="0"/>
                  </a:moveTo>
                  <a:lnTo>
                    <a:pt x="4816592" y="0"/>
                  </a:lnTo>
                  <a:lnTo>
                    <a:pt x="4816592" y="75309"/>
                  </a:lnTo>
                  <a:lnTo>
                    <a:pt x="0" y="75309"/>
                  </a:lnTo>
                  <a:close/>
                </a:path>
              </a:pathLst>
            </a:custGeom>
            <a:solidFill>
              <a:srgbClr val="E8DED0"/>
            </a:solidFill>
          </p:spPr>
        </p:sp>
        <p:sp>
          <p:nvSpPr>
            <p:cNvPr id="4" name="TextBox 4"/>
            <p:cNvSpPr txBox="1"/>
            <p:nvPr/>
          </p:nvSpPr>
          <p:spPr>
            <a:xfrm>
              <a:off x="0" y="-38100"/>
              <a:ext cx="4816593" cy="113409"/>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 name="Freeform 5"/>
          <p:cNvSpPr/>
          <p:nvPr/>
        </p:nvSpPr>
        <p:spPr>
          <a:xfrm>
            <a:off x="15462917" y="9201140"/>
            <a:ext cx="2144573" cy="2171720"/>
          </a:xfrm>
          <a:custGeom>
            <a:avLst/>
            <a:gdLst/>
            <a:ahLst/>
            <a:cxnLst/>
            <a:rect l="l" t="t" r="r" b="b"/>
            <a:pathLst>
              <a:path w="2144573" h="2171720">
                <a:moveTo>
                  <a:pt x="0" y="0"/>
                </a:moveTo>
                <a:lnTo>
                  <a:pt x="2144573" y="0"/>
                </a:lnTo>
                <a:lnTo>
                  <a:pt x="2144573" y="2171720"/>
                </a:lnTo>
                <a:lnTo>
                  <a:pt x="0" y="2171720"/>
                </a:lnTo>
                <a:lnTo>
                  <a:pt x="0" y="0"/>
                </a:lnTo>
                <a:close/>
              </a:path>
            </a:pathLst>
          </a:custGeom>
          <a:blipFill>
            <a:blip r:embed="rId2"/>
            <a:stretch>
              <a:fillRect/>
            </a:stretch>
          </a:blipFill>
        </p:spPr>
      </p:sp>
      <p:sp>
        <p:nvSpPr>
          <p:cNvPr id="6" name="TextBox 6"/>
          <p:cNvSpPr txBox="1"/>
          <p:nvPr/>
        </p:nvSpPr>
        <p:spPr>
          <a:xfrm>
            <a:off x="15956222" y="9453768"/>
            <a:ext cx="1157963" cy="622935"/>
          </a:xfrm>
          <a:prstGeom prst="rect">
            <a:avLst/>
          </a:prstGeom>
        </p:spPr>
        <p:txBody>
          <a:bodyPr lIns="0" tIns="0" rIns="0" bIns="0" rtlCol="0" anchor="t">
            <a:spAutoFit/>
          </a:bodyPr>
          <a:lstStyle/>
          <a:p>
            <a:pPr marL="0" marR="0" lvl="0" indent="0" algn="ctr" defTabSz="914400" rtl="0" eaLnBrk="1" fontAlgn="auto" latinLnBrk="0" hangingPunct="1">
              <a:lnSpc>
                <a:spcPts val="5039"/>
              </a:lnSpc>
              <a:spcBef>
                <a:spcPts val="0"/>
              </a:spcBef>
              <a:spcAft>
                <a:spcPts val="0"/>
              </a:spcAft>
              <a:buClrTx/>
              <a:buSzTx/>
              <a:buFontTx/>
              <a:buNone/>
              <a:tabLst/>
              <a:defRPr/>
            </a:pPr>
            <a:r>
              <a:rPr kumimoji="0" lang="en-US" sz="3599" b="0" i="1" u="none" strike="noStrike" kern="1200" cap="none" spc="0" normalizeH="0" baseline="0" noProof="0">
                <a:ln>
                  <a:noFill/>
                </a:ln>
                <a:solidFill>
                  <a:srgbClr val="861A1A"/>
                </a:solidFill>
                <a:effectLst/>
                <a:uLnTx/>
                <a:uFillTx/>
                <a:latin typeface="Cooper BT Light Italics"/>
                <a:ea typeface="Cooper BT Light Italics"/>
                <a:cs typeface="Cooper BT Light Italics"/>
                <a:sym typeface="Cooper BT Light Italics"/>
              </a:rPr>
              <a:t>13</a:t>
            </a:r>
          </a:p>
        </p:txBody>
      </p:sp>
      <p:grpSp>
        <p:nvGrpSpPr>
          <p:cNvPr id="7" name="Group 7"/>
          <p:cNvGrpSpPr/>
          <p:nvPr/>
        </p:nvGrpSpPr>
        <p:grpSpPr>
          <a:xfrm>
            <a:off x="680510" y="634460"/>
            <a:ext cx="6642227" cy="788479"/>
            <a:chOff x="0" y="0"/>
            <a:chExt cx="3423554" cy="406400"/>
          </a:xfrm>
        </p:grpSpPr>
        <p:sp>
          <p:nvSpPr>
            <p:cNvPr id="8" name="Freeform 8"/>
            <p:cNvSpPr/>
            <p:nvPr/>
          </p:nvSpPr>
          <p:spPr>
            <a:xfrm>
              <a:off x="0" y="0"/>
              <a:ext cx="3423554" cy="406400"/>
            </a:xfrm>
            <a:custGeom>
              <a:avLst/>
              <a:gdLst/>
              <a:ahLst/>
              <a:cxnLst/>
              <a:rect l="l" t="t" r="r" b="b"/>
              <a:pathLst>
                <a:path w="3423554" h="406400">
                  <a:moveTo>
                    <a:pt x="3220354" y="0"/>
                  </a:moveTo>
                  <a:cubicBezTo>
                    <a:pt x="3332579" y="0"/>
                    <a:pt x="3423554" y="90976"/>
                    <a:pt x="3423554" y="203200"/>
                  </a:cubicBezTo>
                  <a:cubicBezTo>
                    <a:pt x="3423554" y="315424"/>
                    <a:pt x="3332579" y="406400"/>
                    <a:pt x="3220354"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9" name="TextBox 9"/>
            <p:cNvSpPr txBox="1"/>
            <p:nvPr/>
          </p:nvSpPr>
          <p:spPr>
            <a:xfrm>
              <a:off x="0" y="-38100"/>
              <a:ext cx="3423554"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0" name="Freeform 10"/>
          <p:cNvSpPr/>
          <p:nvPr/>
        </p:nvSpPr>
        <p:spPr>
          <a:xfrm>
            <a:off x="969965" y="769201"/>
            <a:ext cx="679867" cy="518999"/>
          </a:xfrm>
          <a:custGeom>
            <a:avLst/>
            <a:gdLst/>
            <a:ahLst/>
            <a:cxnLst/>
            <a:rect l="l" t="t" r="r" b="b"/>
            <a:pathLst>
              <a:path w="679867" h="518999">
                <a:moveTo>
                  <a:pt x="0" y="0"/>
                </a:moveTo>
                <a:lnTo>
                  <a:pt x="679867" y="0"/>
                </a:lnTo>
                <a:lnTo>
                  <a:pt x="679867" y="518998"/>
                </a:lnTo>
                <a:lnTo>
                  <a:pt x="0" y="51899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a:off x="1157874" y="861195"/>
            <a:ext cx="304048" cy="217809"/>
          </a:xfrm>
          <a:custGeom>
            <a:avLst/>
            <a:gdLst/>
            <a:ahLst/>
            <a:cxnLst/>
            <a:rect l="l" t="t" r="r" b="b"/>
            <a:pathLst>
              <a:path w="304048" h="217809">
                <a:moveTo>
                  <a:pt x="0" y="0"/>
                </a:moveTo>
                <a:lnTo>
                  <a:pt x="304048" y="0"/>
                </a:lnTo>
                <a:lnTo>
                  <a:pt x="304048" y="217809"/>
                </a:lnTo>
                <a:lnTo>
                  <a:pt x="0" y="2178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2" name="Group 12"/>
          <p:cNvGrpSpPr/>
          <p:nvPr/>
        </p:nvGrpSpPr>
        <p:grpSpPr>
          <a:xfrm>
            <a:off x="11660216" y="634460"/>
            <a:ext cx="5947274" cy="788479"/>
            <a:chOff x="0" y="0"/>
            <a:chExt cx="3065360" cy="406400"/>
          </a:xfrm>
        </p:grpSpPr>
        <p:sp>
          <p:nvSpPr>
            <p:cNvPr id="13" name="Freeform 13"/>
            <p:cNvSpPr/>
            <p:nvPr/>
          </p:nvSpPr>
          <p:spPr>
            <a:xfrm>
              <a:off x="0" y="0"/>
              <a:ext cx="3065360" cy="406400"/>
            </a:xfrm>
            <a:custGeom>
              <a:avLst/>
              <a:gdLst/>
              <a:ahLst/>
              <a:cxnLst/>
              <a:rect l="l" t="t" r="r" b="b"/>
              <a:pathLst>
                <a:path w="3065360" h="406400">
                  <a:moveTo>
                    <a:pt x="2862160" y="0"/>
                  </a:moveTo>
                  <a:cubicBezTo>
                    <a:pt x="2974384" y="0"/>
                    <a:pt x="3065360" y="90976"/>
                    <a:pt x="3065360" y="203200"/>
                  </a:cubicBezTo>
                  <a:cubicBezTo>
                    <a:pt x="3065360" y="315424"/>
                    <a:pt x="2974384" y="406400"/>
                    <a:pt x="2862160"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14" name="TextBox 14"/>
            <p:cNvSpPr txBox="1"/>
            <p:nvPr/>
          </p:nvSpPr>
          <p:spPr>
            <a:xfrm>
              <a:off x="0" y="-38100"/>
              <a:ext cx="3065360"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5" name="AutoShape 15"/>
          <p:cNvSpPr/>
          <p:nvPr/>
        </p:nvSpPr>
        <p:spPr>
          <a:xfrm>
            <a:off x="7322736" y="1028700"/>
            <a:ext cx="4337480" cy="0"/>
          </a:xfrm>
          <a:prstGeom prst="line">
            <a:avLst/>
          </a:prstGeom>
          <a:ln w="19050" cap="flat">
            <a:solidFill>
              <a:srgbClr val="E8DED0"/>
            </a:solidFill>
            <a:prstDash val="solid"/>
            <a:headEnd type="none" w="sm" len="sm"/>
            <a:tailEnd type="none" w="sm" len="sm"/>
          </a:ln>
        </p:spPr>
      </p:sp>
      <p:sp>
        <p:nvSpPr>
          <p:cNvPr id="16" name="TextBox 16"/>
          <p:cNvSpPr txBox="1"/>
          <p:nvPr/>
        </p:nvSpPr>
        <p:spPr>
          <a:xfrm>
            <a:off x="1819853" y="739457"/>
            <a:ext cx="5332861" cy="491353"/>
          </a:xfrm>
          <a:prstGeom prst="rect">
            <a:avLst/>
          </a:prstGeom>
        </p:spPr>
        <p:txBody>
          <a:bodyPr lIns="0" tIns="0" rIns="0" bIns="0" rtlCol="0" anchor="t">
            <a:spAutoFit/>
          </a:bodyPr>
          <a:lstStyle/>
          <a:p>
            <a:pPr algn="l">
              <a:lnSpc>
                <a:spcPts val="4339"/>
              </a:lnSpc>
            </a:pPr>
            <a:r>
              <a:rPr lang="en-US" sz="2400" i="1" spc="371" dirty="0" err="1">
                <a:solidFill>
                  <a:srgbClr val="E8DED0"/>
                </a:solidFill>
                <a:latin typeface="Cooper BT Light Italics"/>
                <a:ea typeface="Cooper BT Light Italics"/>
                <a:cs typeface="Cooper BT Light Italics"/>
                <a:sym typeface="Cooper BT Light Italics"/>
              </a:rPr>
              <a:t>Sekolah</a:t>
            </a:r>
            <a:r>
              <a:rPr lang="en-US" sz="2400" i="1" spc="371" dirty="0">
                <a:solidFill>
                  <a:srgbClr val="E8DED0"/>
                </a:solidFill>
                <a:latin typeface="Cooper BT Light Italics"/>
                <a:ea typeface="Cooper BT Light Italics"/>
                <a:cs typeface="Cooper BT Light Italics"/>
                <a:sym typeface="Cooper BT Light Italics"/>
              </a:rPr>
              <a:t> Tinggi </a:t>
            </a:r>
            <a:r>
              <a:rPr lang="en-US" sz="2400" i="1" spc="371" dirty="0" err="1">
                <a:solidFill>
                  <a:srgbClr val="E8DED0"/>
                </a:solidFill>
                <a:latin typeface="Cooper BT Light Italics"/>
                <a:ea typeface="Cooper BT Light Italics"/>
                <a:cs typeface="Cooper BT Light Italics"/>
                <a:sym typeface="Cooper BT Light Italics"/>
              </a:rPr>
              <a:t>Ilmu</a:t>
            </a:r>
            <a:r>
              <a:rPr lang="en-US" sz="2400" i="1" spc="371" dirty="0">
                <a:solidFill>
                  <a:srgbClr val="E8DED0"/>
                </a:solidFill>
                <a:latin typeface="Cooper BT Light Italics"/>
                <a:ea typeface="Cooper BT Light Italics"/>
                <a:cs typeface="Cooper BT Light Italics"/>
                <a:sym typeface="Cooper BT Light Italics"/>
              </a:rPr>
              <a:t> </a:t>
            </a:r>
            <a:r>
              <a:rPr lang="en-US" sz="2400" i="1" spc="371" dirty="0" err="1">
                <a:solidFill>
                  <a:srgbClr val="E8DED0"/>
                </a:solidFill>
                <a:latin typeface="Cooper BT Light Italics"/>
                <a:ea typeface="Cooper BT Light Italics"/>
                <a:cs typeface="Cooper BT Light Italics"/>
                <a:sym typeface="Cooper BT Light Italics"/>
              </a:rPr>
              <a:t>Komputer</a:t>
            </a:r>
            <a:endParaRPr lang="en-US" sz="2400" i="1" spc="371" dirty="0">
              <a:solidFill>
                <a:srgbClr val="E8DED0"/>
              </a:solidFill>
              <a:latin typeface="Cooper BT Light Italics"/>
              <a:ea typeface="Cooper BT Light Italics"/>
              <a:cs typeface="Cooper BT Light Italics"/>
              <a:sym typeface="Cooper BT Light Italics"/>
            </a:endParaRPr>
          </a:p>
        </p:txBody>
      </p:sp>
      <p:sp>
        <p:nvSpPr>
          <p:cNvPr id="17" name="TextBox 17"/>
          <p:cNvSpPr txBox="1"/>
          <p:nvPr/>
        </p:nvSpPr>
        <p:spPr>
          <a:xfrm>
            <a:off x="12011333" y="742950"/>
            <a:ext cx="5245041" cy="521335"/>
          </a:xfrm>
          <a:prstGeom prst="rect">
            <a:avLst/>
          </a:prstGeom>
        </p:spPr>
        <p:txBody>
          <a:bodyPr lIns="0" tIns="0" rIns="0" bIns="0" rtlCol="0" anchor="t">
            <a:spAutoFit/>
          </a:bodyPr>
          <a:lstStyle/>
          <a:p>
            <a:pPr algn="ctr">
              <a:lnSpc>
                <a:spcPts val="4339"/>
              </a:lnSpc>
            </a:pPr>
            <a:r>
              <a:rPr lang="en-US" sz="3099" i="1" spc="371" dirty="0">
                <a:solidFill>
                  <a:srgbClr val="E8DED0"/>
                </a:solidFill>
                <a:latin typeface="Cooper BT Light Italics"/>
                <a:ea typeface="Cooper BT Light Italics"/>
                <a:cs typeface="Cooper BT Light Italics"/>
                <a:sym typeface="Cooper BT Light Italics"/>
              </a:rPr>
              <a:t>Data Mining</a:t>
            </a:r>
          </a:p>
        </p:txBody>
      </p:sp>
      <p:grpSp>
        <p:nvGrpSpPr>
          <p:cNvPr id="18" name="Group 18"/>
          <p:cNvGrpSpPr/>
          <p:nvPr/>
        </p:nvGrpSpPr>
        <p:grpSpPr>
          <a:xfrm>
            <a:off x="1872395" y="2261029"/>
            <a:ext cx="14543211" cy="6589048"/>
            <a:chOff x="0" y="0"/>
            <a:chExt cx="896998" cy="406400"/>
          </a:xfrm>
        </p:grpSpPr>
        <p:sp>
          <p:nvSpPr>
            <p:cNvPr id="19" name="Freeform 19"/>
            <p:cNvSpPr/>
            <p:nvPr/>
          </p:nvSpPr>
          <p:spPr>
            <a:xfrm>
              <a:off x="0" y="0"/>
              <a:ext cx="896998" cy="406400"/>
            </a:xfrm>
            <a:custGeom>
              <a:avLst/>
              <a:gdLst/>
              <a:ahLst/>
              <a:cxnLst/>
              <a:rect l="l" t="t" r="r" b="b"/>
              <a:pathLst>
                <a:path w="896998" h="406400">
                  <a:moveTo>
                    <a:pt x="693798" y="0"/>
                  </a:moveTo>
                  <a:cubicBezTo>
                    <a:pt x="806022" y="0"/>
                    <a:pt x="896998" y="90976"/>
                    <a:pt x="896998" y="203200"/>
                  </a:cubicBezTo>
                  <a:cubicBezTo>
                    <a:pt x="896998" y="315424"/>
                    <a:pt x="806022" y="406400"/>
                    <a:pt x="693798" y="406400"/>
                  </a:cubicBezTo>
                  <a:lnTo>
                    <a:pt x="203200" y="406400"/>
                  </a:lnTo>
                  <a:cubicBezTo>
                    <a:pt x="90976" y="406400"/>
                    <a:pt x="0" y="315424"/>
                    <a:pt x="0" y="203200"/>
                  </a:cubicBezTo>
                  <a:cubicBezTo>
                    <a:pt x="0" y="90976"/>
                    <a:pt x="90976" y="0"/>
                    <a:pt x="203200" y="0"/>
                  </a:cubicBezTo>
                  <a:close/>
                </a:path>
              </a:pathLst>
            </a:custGeom>
            <a:solidFill>
              <a:srgbClr val="000000">
                <a:alpha val="0"/>
              </a:srgbClr>
            </a:solidFill>
            <a:ln w="19050" cap="sq">
              <a:solidFill>
                <a:srgbClr val="E8DED0"/>
              </a:solidFill>
              <a:prstDash val="solid"/>
              <a:miter/>
            </a:ln>
          </p:spPr>
        </p:sp>
        <p:sp>
          <p:nvSpPr>
            <p:cNvPr id="20" name="TextBox 20"/>
            <p:cNvSpPr txBox="1"/>
            <p:nvPr/>
          </p:nvSpPr>
          <p:spPr>
            <a:xfrm>
              <a:off x="0" y="-38100"/>
              <a:ext cx="896998" cy="444500"/>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 name="TextBox 21"/>
          <p:cNvSpPr txBox="1"/>
          <p:nvPr/>
        </p:nvSpPr>
        <p:spPr>
          <a:xfrm>
            <a:off x="6004224" y="2661600"/>
            <a:ext cx="6279553" cy="1184275"/>
          </a:xfrm>
          <a:prstGeom prst="rect">
            <a:avLst/>
          </a:prstGeom>
        </p:spPr>
        <p:txBody>
          <a:bodyPr lIns="0" tIns="0" rIns="0" bIns="0" rtlCol="0" anchor="t">
            <a:spAutoFit/>
          </a:bodyPr>
          <a:lstStyle/>
          <a:p>
            <a:pPr marL="0" marR="0" lvl="0" indent="0" algn="ctr" defTabSz="914400" rtl="0" eaLnBrk="1" fontAlgn="auto" latinLnBrk="0" hangingPunct="1">
              <a:lnSpc>
                <a:spcPts val="9799"/>
              </a:lnSpc>
              <a:spcBef>
                <a:spcPts val="0"/>
              </a:spcBef>
              <a:spcAft>
                <a:spcPts val="0"/>
              </a:spcAft>
              <a:buClrTx/>
              <a:buSzTx/>
              <a:buFontTx/>
              <a:buNone/>
              <a:tabLst/>
              <a:defRPr/>
            </a:pPr>
            <a:r>
              <a:rPr kumimoji="0" lang="en-US" sz="6999" b="0" i="0" u="none" strike="noStrike" kern="1200" cap="none" spc="0" normalizeH="0" baseline="0" noProof="0" dirty="0">
                <a:ln>
                  <a:noFill/>
                </a:ln>
                <a:solidFill>
                  <a:srgbClr val="E8DED0"/>
                </a:solidFill>
                <a:effectLst/>
                <a:uLnTx/>
                <a:uFillTx/>
                <a:latin typeface="Cooper BT Light"/>
                <a:ea typeface="Cooper BT Light"/>
                <a:cs typeface="Cooper BT Light"/>
                <a:sym typeface="Cooper BT Light"/>
              </a:rPr>
              <a:t>Saran</a:t>
            </a:r>
          </a:p>
        </p:txBody>
      </p:sp>
      <p:sp>
        <p:nvSpPr>
          <p:cNvPr id="22" name="TextBox 22"/>
          <p:cNvSpPr txBox="1"/>
          <p:nvPr/>
        </p:nvSpPr>
        <p:spPr>
          <a:xfrm>
            <a:off x="2331778" y="4026343"/>
            <a:ext cx="13624444" cy="2921121"/>
          </a:xfrm>
          <a:prstGeom prst="rect">
            <a:avLst/>
          </a:prstGeom>
        </p:spPr>
        <p:txBody>
          <a:bodyPr lIns="0" tIns="0" rIns="0" bIns="0" rtlCol="0" anchor="t">
            <a:spAutoFit/>
          </a:bodyPr>
          <a:lstStyle/>
          <a:p>
            <a:pPr marL="0" marR="0" lvl="0" indent="0" algn="ctr" defTabSz="914400" rtl="0" eaLnBrk="1" fontAlgn="auto" latinLnBrk="0" hangingPunct="1">
              <a:lnSpc>
                <a:spcPts val="4620"/>
              </a:lnSpc>
              <a:spcBef>
                <a:spcPts val="0"/>
              </a:spcBef>
              <a:spcAft>
                <a:spcPts val="0"/>
              </a:spcAft>
              <a:buClrTx/>
              <a:buSzTx/>
              <a:buFontTx/>
              <a:buNone/>
              <a:tabLst/>
              <a:defRPr/>
            </a:pPr>
            <a:r>
              <a:rPr lang="id-ID" sz="3600" dirty="0">
                <a:solidFill>
                  <a:srgbClr val="E8DED0"/>
                </a:solidFill>
                <a:latin typeface="Cooper BT Light" panose="020B0604020202020204" charset="0"/>
              </a:rPr>
              <a:t>Penelitian selanjutnya disarankan untuk menggunakan jumlah data yang lebih besar agar hasil analisis lebih representatif. Selain itu, penggunaan metode klasifikasi lain atau pengembangan teknik preprocessing dapat dipertimbangkan untuk meningkatkan performa klasifikasi, khususnya pada sentimen netral</a:t>
            </a:r>
            <a:endParaRPr kumimoji="0" lang="en-US" sz="3300" b="0" i="0" u="none" strike="noStrike" kern="1200" cap="none" spc="0" normalizeH="0" baseline="0" noProof="0" dirty="0">
              <a:ln>
                <a:noFill/>
              </a:ln>
              <a:solidFill>
                <a:srgbClr val="E8DED0"/>
              </a:solidFill>
              <a:effectLst/>
              <a:uLnTx/>
              <a:uFillTx/>
              <a:latin typeface="Cooper BT Light" panose="020B0604020202020204" charset="0"/>
              <a:ea typeface="Cooper BT Light"/>
              <a:cs typeface="Cooper BT Light"/>
              <a:sym typeface="Cooper BT Light"/>
            </a:endParaRPr>
          </a:p>
        </p:txBody>
      </p:sp>
    </p:spTree>
    <p:extLst>
      <p:ext uri="{BB962C8B-B14F-4D97-AF65-F5344CB8AC3E}">
        <p14:creationId xmlns:p14="http://schemas.microsoft.com/office/powerpoint/2010/main" val="333092115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861A1A">
                <a:alpha val="100000"/>
              </a:srgbClr>
            </a:gs>
            <a:gs pos="100000">
              <a:srgbClr val="520909">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0" y="656499"/>
            <a:ext cx="8229600" cy="8974002"/>
            <a:chOff x="0" y="0"/>
            <a:chExt cx="10972800" cy="11965337"/>
          </a:xfrm>
        </p:grpSpPr>
        <p:sp>
          <p:nvSpPr>
            <p:cNvPr id="3" name="Freeform 3"/>
            <p:cNvSpPr/>
            <p:nvPr/>
          </p:nvSpPr>
          <p:spPr>
            <a:xfrm rot="-5400000">
              <a:off x="5376672" y="6369209"/>
              <a:ext cx="219456" cy="10972800"/>
            </a:xfrm>
            <a:custGeom>
              <a:avLst/>
              <a:gdLst/>
              <a:ahLst/>
              <a:cxnLst/>
              <a:rect l="l" t="t" r="r" b="b"/>
              <a:pathLst>
                <a:path w="219456" h="10972800">
                  <a:moveTo>
                    <a:pt x="0" y="0"/>
                  </a:moveTo>
                  <a:lnTo>
                    <a:pt x="219456" y="0"/>
                  </a:lnTo>
                  <a:lnTo>
                    <a:pt x="219456" y="10972800"/>
                  </a:lnTo>
                  <a:lnTo>
                    <a:pt x="0" y="10972800"/>
                  </a:lnTo>
                  <a:lnTo>
                    <a:pt x="0" y="0"/>
                  </a:lnTo>
                  <a:close/>
                </a:path>
              </a:pathLst>
            </a:custGeom>
            <a:blipFill>
              <a:blip r:embed="rId2"/>
              <a:stretch>
                <a:fillRect/>
              </a:stretch>
            </a:blipFill>
          </p:spPr>
        </p:sp>
        <p:sp>
          <p:nvSpPr>
            <p:cNvPr id="4" name="Freeform 4"/>
            <p:cNvSpPr/>
            <p:nvPr/>
          </p:nvSpPr>
          <p:spPr>
            <a:xfrm rot="-5400000">
              <a:off x="5376672" y="-5376672"/>
              <a:ext cx="219456" cy="10972800"/>
            </a:xfrm>
            <a:custGeom>
              <a:avLst/>
              <a:gdLst/>
              <a:ahLst/>
              <a:cxnLst/>
              <a:rect l="l" t="t" r="r" b="b"/>
              <a:pathLst>
                <a:path w="219456" h="10972800">
                  <a:moveTo>
                    <a:pt x="0" y="0"/>
                  </a:moveTo>
                  <a:lnTo>
                    <a:pt x="219456" y="0"/>
                  </a:lnTo>
                  <a:lnTo>
                    <a:pt x="219456" y="10972800"/>
                  </a:lnTo>
                  <a:lnTo>
                    <a:pt x="0" y="10972800"/>
                  </a:lnTo>
                  <a:lnTo>
                    <a:pt x="0" y="0"/>
                  </a:lnTo>
                  <a:close/>
                </a:path>
              </a:pathLst>
            </a:custGeom>
            <a:blipFill>
              <a:blip r:embed="rId2"/>
              <a:stretch>
                <a:fillRect/>
              </a:stretch>
            </a:blipFill>
          </p:spPr>
        </p:sp>
      </p:grpSp>
      <p:sp>
        <p:nvSpPr>
          <p:cNvPr id="5" name="Freeform 5"/>
          <p:cNvSpPr/>
          <p:nvPr/>
        </p:nvSpPr>
        <p:spPr>
          <a:xfrm rot="-5400000">
            <a:off x="14090904" y="5433405"/>
            <a:ext cx="164592" cy="8229600"/>
          </a:xfrm>
          <a:custGeom>
            <a:avLst/>
            <a:gdLst/>
            <a:ahLst/>
            <a:cxnLst/>
            <a:rect l="l" t="t" r="r" b="b"/>
            <a:pathLst>
              <a:path w="164592" h="8229600">
                <a:moveTo>
                  <a:pt x="0" y="0"/>
                </a:moveTo>
                <a:lnTo>
                  <a:pt x="164592" y="0"/>
                </a:lnTo>
                <a:lnTo>
                  <a:pt x="164592" y="8229600"/>
                </a:lnTo>
                <a:lnTo>
                  <a:pt x="0" y="8229600"/>
                </a:lnTo>
                <a:lnTo>
                  <a:pt x="0" y="0"/>
                </a:lnTo>
                <a:close/>
              </a:path>
            </a:pathLst>
          </a:custGeom>
          <a:blipFill>
            <a:blip r:embed="rId2"/>
            <a:stretch>
              <a:fillRect/>
            </a:stretch>
          </a:blipFill>
        </p:spPr>
      </p:sp>
      <p:sp>
        <p:nvSpPr>
          <p:cNvPr id="6" name="Freeform 6"/>
          <p:cNvSpPr/>
          <p:nvPr/>
        </p:nvSpPr>
        <p:spPr>
          <a:xfrm>
            <a:off x="7099890" y="8217015"/>
            <a:ext cx="4088220" cy="4139969"/>
          </a:xfrm>
          <a:custGeom>
            <a:avLst/>
            <a:gdLst/>
            <a:ahLst/>
            <a:cxnLst/>
            <a:rect l="l" t="t" r="r" b="b"/>
            <a:pathLst>
              <a:path w="4088220" h="4139969">
                <a:moveTo>
                  <a:pt x="0" y="0"/>
                </a:moveTo>
                <a:lnTo>
                  <a:pt x="4088220" y="0"/>
                </a:lnTo>
                <a:lnTo>
                  <a:pt x="4088220" y="4139970"/>
                </a:lnTo>
                <a:lnTo>
                  <a:pt x="0" y="4139970"/>
                </a:lnTo>
                <a:lnTo>
                  <a:pt x="0" y="0"/>
                </a:lnTo>
                <a:close/>
              </a:path>
            </a:pathLst>
          </a:custGeom>
          <a:blipFill>
            <a:blip r:embed="rId3"/>
            <a:stretch>
              <a:fillRect/>
            </a:stretch>
          </a:blipFill>
        </p:spPr>
      </p:sp>
      <p:sp>
        <p:nvSpPr>
          <p:cNvPr id="7" name="Freeform 7"/>
          <p:cNvSpPr/>
          <p:nvPr/>
        </p:nvSpPr>
        <p:spPr>
          <a:xfrm rot="-5400000">
            <a:off x="14090904" y="-3376005"/>
            <a:ext cx="164592" cy="8229600"/>
          </a:xfrm>
          <a:custGeom>
            <a:avLst/>
            <a:gdLst/>
            <a:ahLst/>
            <a:cxnLst/>
            <a:rect l="l" t="t" r="r" b="b"/>
            <a:pathLst>
              <a:path w="164592" h="8229600">
                <a:moveTo>
                  <a:pt x="0" y="0"/>
                </a:moveTo>
                <a:lnTo>
                  <a:pt x="164592" y="0"/>
                </a:lnTo>
                <a:lnTo>
                  <a:pt x="164592" y="8229600"/>
                </a:lnTo>
                <a:lnTo>
                  <a:pt x="0" y="8229600"/>
                </a:lnTo>
                <a:lnTo>
                  <a:pt x="0" y="0"/>
                </a:lnTo>
                <a:close/>
              </a:path>
            </a:pathLst>
          </a:custGeom>
          <a:blipFill>
            <a:blip r:embed="rId2"/>
            <a:stretch>
              <a:fillRect/>
            </a:stretch>
          </a:blipFill>
        </p:spPr>
      </p:sp>
      <p:sp>
        <p:nvSpPr>
          <p:cNvPr id="8" name="Freeform 8"/>
          <p:cNvSpPr/>
          <p:nvPr/>
        </p:nvSpPr>
        <p:spPr>
          <a:xfrm>
            <a:off x="7099890" y="-2069985"/>
            <a:ext cx="4088220" cy="4139969"/>
          </a:xfrm>
          <a:custGeom>
            <a:avLst/>
            <a:gdLst/>
            <a:ahLst/>
            <a:cxnLst/>
            <a:rect l="l" t="t" r="r" b="b"/>
            <a:pathLst>
              <a:path w="4088220" h="4139969">
                <a:moveTo>
                  <a:pt x="0" y="0"/>
                </a:moveTo>
                <a:lnTo>
                  <a:pt x="4088220" y="0"/>
                </a:lnTo>
                <a:lnTo>
                  <a:pt x="4088220" y="4139970"/>
                </a:lnTo>
                <a:lnTo>
                  <a:pt x="0" y="4139970"/>
                </a:lnTo>
                <a:lnTo>
                  <a:pt x="0" y="0"/>
                </a:lnTo>
                <a:close/>
              </a:path>
            </a:pathLst>
          </a:custGeom>
          <a:blipFill>
            <a:blip r:embed="rId3"/>
            <a:stretch>
              <a:fillRect/>
            </a:stretch>
          </a:blipFill>
        </p:spPr>
      </p:sp>
      <p:sp>
        <p:nvSpPr>
          <p:cNvPr id="9" name="TextBox 9"/>
          <p:cNvSpPr txBox="1"/>
          <p:nvPr/>
        </p:nvSpPr>
        <p:spPr>
          <a:xfrm>
            <a:off x="2001203" y="3698875"/>
            <a:ext cx="14285593" cy="2057400"/>
          </a:xfrm>
          <a:prstGeom prst="rect">
            <a:avLst/>
          </a:prstGeom>
        </p:spPr>
        <p:txBody>
          <a:bodyPr lIns="0" tIns="0" rIns="0" bIns="0" rtlCol="0" anchor="t">
            <a:spAutoFit/>
          </a:bodyPr>
          <a:lstStyle/>
          <a:p>
            <a:pPr algn="ctr">
              <a:lnSpc>
                <a:spcPts val="16800"/>
              </a:lnSpc>
            </a:pPr>
            <a:r>
              <a:rPr lang="en-US" sz="12000" spc="480">
                <a:solidFill>
                  <a:srgbClr val="E8DED0"/>
                </a:solidFill>
                <a:latin typeface="Cooper BT Light"/>
                <a:ea typeface="Cooper BT Light"/>
                <a:cs typeface="Cooper BT Light"/>
                <a:sym typeface="Cooper BT Light"/>
              </a:rPr>
              <a:t>TERIMA KASIH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842</Words>
  <Application>Microsoft Office PowerPoint</Application>
  <PresentationFormat>Custom</PresentationFormat>
  <Paragraphs>130</Paragraphs>
  <Slides>14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Cooper BT Light</vt:lpstr>
      <vt:lpstr>Cooper BT Light Italics</vt:lpstr>
      <vt:lpstr>Calibri</vt:lpstr>
      <vt:lpstr>Arial</vt:lpstr>
      <vt:lpstr>Cooper BT Bold Italics</vt:lpstr>
      <vt:lpstr>Cooper BT 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Merah emas modern minimalis seminar proposal skripsi presentasi</dc:title>
  <cp:lastModifiedBy>sri</cp:lastModifiedBy>
  <cp:revision>7</cp:revision>
  <dcterms:created xsi:type="dcterms:W3CDTF">2006-08-16T00:00:00Z</dcterms:created>
  <dcterms:modified xsi:type="dcterms:W3CDTF">2026-01-07T07:26:54Z</dcterms:modified>
  <dc:identifier>DAG9kPHjDHM</dc:identifier>
</cp:coreProperties>
</file>